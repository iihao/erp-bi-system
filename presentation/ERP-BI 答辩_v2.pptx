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2286000" cy="4114800"/>
          </a:xfrm>
          <a:prstGeom prst="rect">
            <a:avLst>
              <a:gd name="adj" fmla="val 8000"/>
            </a:avLst>
          </a:prstGeom>
          <a:solidFill>
            <a:srgbClr val="2563E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ERP 系统的商业智能报表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的设计与实现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姓名：_______________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导师：_______________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日期：2026 年 3 月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学校：_______________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677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6151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6151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数仓分层设计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9626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9626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ETL 流程实现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3101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技术栈介绍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核心功能展示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智能问数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43525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3525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系统测试与部署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7000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700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83280" y="731520"/>
            <a:ext cx="53035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731520"/>
            <a:ext cx="54864" cy="91440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914400"/>
            <a:ext cx="502920" cy="5029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6052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数仓分层架构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416052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 → DWD → DWS → ADS 四层设计，共 24 张表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383280" y="1783080"/>
            <a:ext cx="53035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383280" y="1783080"/>
            <a:ext cx="54864" cy="914400"/>
          </a:xfrm>
          <a:prstGeom prst="rect">
            <a:avLst>
              <a:gd name="adj" fmla="val 50000"/>
            </a:avLst>
          </a:prstGeom>
          <a:solidFill>
            <a:srgbClr val="8B5CF6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965960"/>
            <a:ext cx="502920" cy="5029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16052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智能问数</a:t>
            </a:r>
            <a:endParaRPr lang="en-US" sz="1700" dirty="0"/>
          </a:p>
        </p:txBody>
      </p:sp>
      <p:sp>
        <p:nvSpPr>
          <p:cNvPr id="32" name="Text 28"/>
          <p:cNvSpPr/>
          <p:nvPr/>
        </p:nvSpPr>
        <p:spPr>
          <a:xfrm>
            <a:off x="416052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自然语言转 SQL，查询准确率 &gt; 80%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3383280" y="2834640"/>
            <a:ext cx="53035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3383280" y="2834640"/>
            <a:ext cx="54864" cy="91440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017520"/>
            <a:ext cx="502920" cy="5029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16052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BI 方案</a:t>
            </a:r>
            <a:endParaRPr lang="en-US" sz="1700" dirty="0"/>
          </a:p>
        </p:txBody>
      </p:sp>
      <p:sp>
        <p:nvSpPr>
          <p:cNvPr id="37" name="Text 32"/>
          <p:cNvSpPr/>
          <p:nvPr/>
        </p:nvSpPr>
        <p:spPr>
          <a:xfrm>
            <a:off x="416052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自研前端 + Metabase，优势互补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3383280" y="3886200"/>
            <a:ext cx="53035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3383280" y="3886200"/>
            <a:ext cx="54864" cy="914400"/>
          </a:xfrm>
          <a:prstGeom prst="rect">
            <a:avLst>
              <a:gd name="adj" fmla="val 50000"/>
            </a:avLst>
          </a:prstGeom>
          <a:solidFill>
            <a:srgbClr val="10B981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4069080"/>
            <a:ext cx="502920" cy="50292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4160520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一键部署</a:t>
            </a:r>
            <a:endParaRPr lang="en-US" sz="1700" dirty="0"/>
          </a:p>
        </p:txBody>
      </p:sp>
      <p:sp>
        <p:nvSpPr>
          <p:cNvPr id="42" name="Text 36"/>
          <p:cNvSpPr/>
          <p:nvPr/>
        </p:nvSpPr>
        <p:spPr>
          <a:xfrm>
            <a:off x="4160520" y="434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编排，5 个服务快速上线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项目背景与目标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企业信息化建设现状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系统积累大量业务数据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数据转化为商业智能是重要挑战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BI 门槛高，业务人员难以自助分析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887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项目建设目标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37760" y="16459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构建低门槛、智能化的 BI 报表平台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让业务人员轻松获取数据洞察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让管理层快速做出数据驱动决策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383280"/>
            <a:ext cx="8229600" cy="1371600"/>
          </a:xfrm>
          <a:prstGeom prst="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31520" y="3931920"/>
            <a:ext cx="365760" cy="36576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8872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8872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从经验决策转向数据决策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154680" y="3931920"/>
            <a:ext cx="365760" cy="36576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9" name="Text 15"/>
          <p:cNvSpPr/>
          <p:nvPr/>
        </p:nvSpPr>
        <p:spPr>
          <a:xfrm>
            <a:off x="31546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1188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降本增效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61188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减少人工报表开发成本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577840" y="3931920"/>
            <a:ext cx="365760" cy="36576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23" name="Text 19"/>
          <p:cNvSpPr/>
          <p:nvPr/>
        </p:nvSpPr>
        <p:spPr>
          <a:xfrm>
            <a:off x="55778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03504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敏捷响应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03504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快速获取业务洞察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项目目标与创新亮点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构建数仓分层架构（ODS → DWD → DWS → ADS）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ETL 数据流水线（自动化同步与转换）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 BI 可视化能力（Metabase 集成）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AI 智能问数（自然语言查询）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一键部署（Docker Compose）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>
              <a:gd name="adj" fmla="val 2000"/>
            </a:avLst>
          </a:prstGeom>
          <a:solidFill>
            <a:srgbClr val="EEF2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887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937760" y="1691640"/>
            <a:ext cx="320040" cy="32004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12" name="Text 8"/>
          <p:cNvSpPr/>
          <p:nvPr/>
        </p:nvSpPr>
        <p:spPr>
          <a:xfrm>
            <a:off x="493776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49240" y="16733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智能问数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49240" y="19476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自然语言查询数据，准确率 &gt; 80%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37760" y="2286000"/>
            <a:ext cx="320040" cy="3200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493776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49240" y="22677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BI 方案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349240" y="2542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自研前端 + Metabase 优势互补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37760" y="2880360"/>
            <a:ext cx="320040" cy="32004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20" name="Text 16"/>
          <p:cNvSpPr/>
          <p:nvPr/>
        </p:nvSpPr>
        <p:spPr>
          <a:xfrm>
            <a:off x="49377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49240" y="2862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经典数仓四层架构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349240" y="31363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数据解耦，易于扩展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937760" y="3474720"/>
            <a:ext cx="320040" cy="3200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4" name="Text 20"/>
          <p:cNvSpPr/>
          <p:nvPr/>
        </p:nvSpPr>
        <p:spPr>
          <a:xfrm>
            <a:off x="493776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349240" y="34564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容器化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349240" y="37307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个服务一键启动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937760" y="4069080"/>
            <a:ext cx="320040" cy="32004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28" name="Text 24"/>
          <p:cNvSpPr/>
          <p:nvPr/>
        </p:nvSpPr>
        <p:spPr>
          <a:xfrm>
            <a:off x="493776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349240" y="40507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增量同步机制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349240" y="4325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基于时间戳，避免重复处理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系统架构设计</a:t>
            </a:r>
            <a:endParaRPr lang="en-US" sz="2600" dirty="0"/>
          </a:p>
        </p:txBody>
      </p:sp>
      <p:pic>
        <p:nvPicPr>
          <p:cNvPr id="4" name="Image 0" descr="/tmp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0292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005840"/>
            <a:ext cx="30175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11556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用户层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806440" y="1463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前端：仪表板/报表/AI 问数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Metabase BI：自助分析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API：外部集成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0" y="2331720"/>
            <a:ext cx="30175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44144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792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806440" y="2788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高性能后端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问数服务（百炼 Qwen）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网关 / 认证 / 查询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669280" y="3657600"/>
            <a:ext cx="30175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376732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806440" y="4114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 业务数据库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7.x 缓存加速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 ODS→DWD→DWS→ADS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数仓分层设计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6858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365760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原始数据层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与业务库结构一致，直接抽取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DWD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清洗标准化层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统一格式、去重清洗、维度标准化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DWS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轻度聚合层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主题汇总、中度聚合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报表指标层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直接用于报表展示的预计算指标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数据流转路径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703320"/>
            <a:ext cx="1005840" cy="365760"/>
          </a:xfrm>
          <a:prstGeom prst="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3657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691640" y="3703320"/>
            <a:ext cx="1005840" cy="365760"/>
          </a:xfrm>
          <a:prstGeom prst="rect">
            <a:avLst>
              <a:gd name="adj" fmla="val 15000"/>
            </a:avLst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169164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97480" y="3657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26080" y="3703320"/>
            <a:ext cx="1005840" cy="365760"/>
          </a:xfrm>
          <a:prstGeom prst="rect">
            <a:avLst>
              <a:gd name="adj" fmla="val 15000"/>
            </a:avLst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31920" y="3657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160520" y="3703320"/>
            <a:ext cx="1005840" cy="365760"/>
          </a:xfrm>
          <a:prstGeom prst="rect">
            <a:avLst>
              <a:gd name="adj" fmla="val 15000"/>
            </a:avLst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416052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66360" y="3657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94960" y="3703320"/>
            <a:ext cx="1005840" cy="365760"/>
          </a:xfrm>
          <a:prstGeom prst="rect">
            <a:avLst>
              <a:gd name="adj" fmla="val 15000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39496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0" y="3657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29400" y="3703320"/>
            <a:ext cx="1005840" cy="365760"/>
          </a:xfrm>
          <a:prstGeom prst="rect">
            <a:avLst>
              <a:gd name="adj" fmla="val 15000"/>
            </a:avLst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662940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43600" y="1005840"/>
            <a:ext cx="2743200" cy="3657600"/>
          </a:xfrm>
          <a:prstGeom prst="rect">
            <a:avLst>
              <a:gd name="adj" fmla="val 3333"/>
            </a:avLst>
          </a:prstGeom>
          <a:solidFill>
            <a:srgbClr val="0F172A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数仓统计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858000" y="1508760"/>
            <a:ext cx="9144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总表数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436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张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943600" y="2441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层级数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43600" y="2715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层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943600" y="3099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43600" y="33741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~5,000 条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0" y="37581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同步耗时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43600" y="40325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20 秒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457200" y="4206240"/>
            <a:ext cx="502920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48640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 层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64592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ods_products — 产品信息  |  ods_orders — 订单主表  |  ods_order_items — 订单明细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" y="4800600"/>
            <a:ext cx="502920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48640" y="4846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 层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6459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dws_sales_daily — 销售日报  |  dws_product_summary — 产品汇总  |  dws_customer_stats — 客户统计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ETL 流程实现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914400"/>
          </a:xfrm>
          <a:prstGeom prst="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 抽取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/ 增量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234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828800" cy="914400"/>
          </a:xfrm>
          <a:prstGeom prst="rect">
            <a:avLst>
              <a:gd name="adj" fmla="val 10000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DWD 清洗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0604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 / 标准化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234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828800" cy="914400"/>
          </a:xfrm>
          <a:prstGeom prst="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 聚合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 / 月报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1234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828800" cy="914400"/>
          </a:xfrm>
          <a:prstGeom prst="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ADS 报表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/ 排行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ETL 处理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" y="2834640"/>
            <a:ext cx="320040" cy="32004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 抽取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全量同步 + 增量更新（基于 updated_at 时间戳）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337560"/>
            <a:ext cx="320040" cy="32004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DWD 清洗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566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去重、空值处理、格式统一（日期、金额）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840480"/>
            <a:ext cx="320040" cy="3200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 聚合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4069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按日/月/产品/客户维度汇总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4343400"/>
            <a:ext cx="320040" cy="3200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ADS 报表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4572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预计算 KPI、排行、占比指标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数据同步效果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697480"/>
          <a:ext cx="32004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640080"/>
                <a:gridCol w="11887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同步时间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~5,000 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10 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 ERP 业务库抽取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DWD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~4,800 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5 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清洗后数据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DWS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~365 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3 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按日聚合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~50 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2 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预计算指标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457200" y="4343400"/>
            <a:ext cx="3200400" cy="502920"/>
          </a:xfrm>
          <a:prstGeom prst="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4864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增量更新：基于 updated_at 时间戳，只同步变更数据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技术栈介绍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9144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Vue3 + Vite + Element Plus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3.4+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响应式 UI 框架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ECharts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数据可视化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FastAPI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0.100+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高性能异步 API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关系型数据库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Redis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内存缓存加速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Metabase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0.47+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 BI 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百炼 Qwen3.5-Plus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自然语言处理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Compose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容器化部署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097280"/>
            <a:ext cx="1554480" cy="3657600"/>
          </a:xfrm>
          <a:prstGeom prst="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架构概览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3232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0" y="1965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/ ECharts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80960" y="22219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32320" y="23500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0" y="2624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/ Redis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80960" y="2880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0" y="30083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32320" y="3282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数仓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80960" y="35387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2320" y="36667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32320" y="39410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百炼 Qwen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114800"/>
            <a:ext cx="5943600" cy="548640"/>
          </a:xfrm>
          <a:prstGeom prst="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4160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一键部署：docker-compose up -d 启动 5 个服务（mysql → redis → fastapi → frontend → metabase）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核心功能 — 仪表板</a:t>
            </a:r>
            <a:endParaRPr lang="en-US" sz="2600" dirty="0"/>
          </a:p>
        </p:txBody>
      </p:sp>
      <p:pic>
        <p:nvPicPr>
          <p:cNvPr id="4" name="Image 0" descr="/Users/huangqiang/projects/erp-bi-system/presentation/screen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4864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指标卡片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126480" y="1508760"/>
            <a:ext cx="2560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1673352"/>
            <a:ext cx="228600" cy="22860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5819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总销售额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聚合所有订单金额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2240280"/>
            <a:ext cx="2560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2404872"/>
            <a:ext cx="228600" cy="22860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23134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总订单数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0" y="2560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统计订单总量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2971800"/>
            <a:ext cx="2560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63640" y="3136392"/>
            <a:ext cx="228600" cy="22860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0" y="3044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客户总数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8368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去重客户数量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3703320"/>
            <a:ext cx="2560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3867912"/>
            <a:ext cx="228600" cy="22860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3776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环比增长率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83680" y="4023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与上期数据对比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技术指标：响应时间 &lt; 3 秒  |  数据实时更新  |  支持日期范围筛选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核心功能 — 可视化图表</a:t>
            </a:r>
            <a:endParaRPr lang="en-US" sz="2600" dirty="0"/>
          </a:p>
        </p:txBody>
      </p:sp>
      <p:pic>
        <p:nvPicPr>
          <p:cNvPr id="4" name="Image 0" descr="/Users/huangqiang/projects/erp-bi-system/presentation/screenshots/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4864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图表类型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126480" y="1508760"/>
            <a:ext cx="2560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5819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销售趋势图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6364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折线图展示时间序列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2240280"/>
            <a:ext cx="2560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23134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产品排行图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63640" y="2560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柱状图展示 TOP 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2971800"/>
            <a:ext cx="2560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3044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品类占比图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63640" y="3291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饼图展示构成比例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3703320"/>
            <a:ext cx="25603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63640" y="37764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地域分布图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63640" y="4023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地图展示区域分布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ECharts 5.x 实现  |  支持响应式布局  |  多种图表类型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AI 智能问数 ⭐</a:t>
            </a:r>
            <a:endParaRPr lang="en-US" sz="2600" dirty="0"/>
          </a:p>
        </p:txBody>
      </p:sp>
      <p:pic>
        <p:nvPicPr>
          <p:cNvPr id="4" name="Image 0" descr="/Users/huangqiang/projects/erp-bi-system/presentation/screenshots/ai-qu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3891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系统处理流程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029200" y="1463040"/>
            <a:ext cx="365760" cy="36576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理解语义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1737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解析自然语言问题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0" y="2148840"/>
            <a:ext cx="365760" cy="36576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2130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 SQL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基于百炼 Qwen 模型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2834640"/>
            <a:ext cx="365760" cy="36576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0" y="2816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执行查询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0" y="3108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数据库查询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0" y="3520440"/>
            <a:ext cx="365760" cy="36576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0" y="3502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展示结果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0" y="3794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表格/图表可视化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0" y="4206240"/>
            <a:ext cx="3657600" cy="868680"/>
          </a:xfrm>
          <a:prstGeom prst="rect">
            <a:avLst>
              <a:gd name="adj" fmla="val 8421"/>
            </a:avLst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251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生成 SQL 示例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20640" y="4526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SUM(oi.quantity * oi.price) FROM ods_order_items oi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o.order_date &gt;= DATE_SUB(CURDATE(), INTERVAL 1 MONTH)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total_sales DESC LIMIT 1;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4389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&lt; 3 秒  |  准确率 &gt; 80%  |  支持多表 JOIN、聚合、时间表达式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AI 智能问数 — 典型查询示例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自然语言问题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 SQL 特点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简单查询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"有多少个产品？"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单表 COUNT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聚合查询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"各品类销售占比"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GROUP BY + SUM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排行查询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"销售额最高的产品"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ORDER BY + LIMIT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时间查询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"上个月销售数据"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DATE_SUB 时间过滤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复合查询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"华东区上月销量 TOP3"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多条件组合筛选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468880" cy="2377440"/>
          </a:xfrm>
          <a:prstGeom prst="rect">
            <a:avLst>
              <a:gd name="adj" fmla="val 3077"/>
            </a:avLst>
          </a:prstGeom>
          <a:solidFill>
            <a:srgbClr val="0F172A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0972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1051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数仓库表节省 Token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00800" y="15544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直接查询数仓库表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（DWD/DWS/ADS）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而非原始 ERP 表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0" y="2423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复杂度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00800" y="2697480"/>
            <a:ext cx="1828800" cy="164592"/>
          </a:xfrm>
          <a:prstGeom prst="rect">
            <a:avLst>
              <a:gd name="adj" fmla="val 16667"/>
            </a:avLst>
          </a:prstGeom>
          <a:solidFill>
            <a:srgbClr val="475569"/>
          </a:solidFill>
          <a:ln/>
        </p:spPr>
      </p:sp>
      <p:sp>
        <p:nvSpPr>
          <p:cNvPr id="11" name="Text 7"/>
          <p:cNvSpPr/>
          <p:nvPr/>
        </p:nvSpPr>
        <p:spPr>
          <a:xfrm>
            <a:off x="6446520" y="267919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ERP 表 50+ 字段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400800" y="2907792"/>
            <a:ext cx="914400" cy="164592"/>
          </a:xfrm>
          <a:prstGeom prst="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3" name="Text 9"/>
          <p:cNvSpPr/>
          <p:nvPr/>
        </p:nvSpPr>
        <p:spPr>
          <a:xfrm>
            <a:off x="6446520" y="2889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数仓库表 15 字段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00800" y="3154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减少 ~70%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生成更准确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成本更低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Metabase BI 集成</a:t>
            </a:r>
            <a:endParaRPr lang="en-US" sz="1700" dirty="0"/>
          </a:p>
        </p:txBody>
      </p:sp>
      <p:pic>
        <p:nvPicPr>
          <p:cNvPr id="16" name="Image 1" descr="/Users/huangqiang/projects/erp-bi-system/presentation/screenshots/me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3657600" cy="11887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17920" y="3657600"/>
            <a:ext cx="2468880" cy="1188720"/>
          </a:xfrm>
          <a:prstGeom prst="rect">
            <a:avLst>
              <a:gd name="adj" fmla="val 6154"/>
            </a:avLst>
          </a:prstGeom>
          <a:solidFill>
            <a:srgbClr val="EEF2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73075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0" y="3703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BI 方案优势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400800" y="4069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自研前端 + Metabase 互补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固定报表 + 自助分析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系统测试与部署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页面加载时间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3 秒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2 秒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 响应时间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500ms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200ms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查询响应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5 秒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3 秒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数据准确性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系统可用性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99.9%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测试覆盖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02920" y="3977640"/>
            <a:ext cx="274320" cy="27432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1788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 覆盖率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4434840"/>
            <a:ext cx="274320" cy="27432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389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636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 100% 覆盖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4892040"/>
            <a:ext cx="274320" cy="27432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4846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5093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100+ 并发用户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097280"/>
            <a:ext cx="2468880" cy="2743200"/>
          </a:xfrm>
          <a:prstGeom prst="rect">
            <a:avLst>
              <a:gd name="adj" fmla="val 2963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18872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58000" y="1143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部署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400800" y="164592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一键启动：docker-compose up -d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个服务一键上线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volume 持久化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日志输出到 logs/ 目录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.env 管理配置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创新点总结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47472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3444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74520" y="1234440"/>
            <a:ext cx="320040" cy="32004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187452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数仓分层架构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237744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经典四层设计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 → DWD → DWS → ADS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数据解耦，易于扩展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4 层 24 张表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1097280"/>
            <a:ext cx="1920240" cy="347472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34440"/>
            <a:ext cx="54864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23360" y="1234440"/>
            <a:ext cx="320040" cy="32004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13" name="Text 9"/>
          <p:cNvSpPr/>
          <p:nvPr/>
        </p:nvSpPr>
        <p:spPr>
          <a:xfrm>
            <a:off x="40233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9748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智能问数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743200" y="237744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自然语言转 SQL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数仓库表节省 ~70% Token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&lt; 3 秒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&gt; 80%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54880" y="1097280"/>
            <a:ext cx="1920240" cy="347472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234440"/>
            <a:ext cx="548640" cy="5486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72200" y="1234440"/>
            <a:ext cx="320040" cy="3200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9" name="Text 14"/>
          <p:cNvSpPr/>
          <p:nvPr/>
        </p:nvSpPr>
        <p:spPr>
          <a:xfrm>
            <a:off x="61722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BI 方案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892040" y="237744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自研前端 + Metabase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灵活选择，优势互补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固定报表 + 自助分析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开源与自研结合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903720" y="1097280"/>
            <a:ext cx="1920240" cy="347472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234440"/>
            <a:ext cx="548640" cy="5486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321040" y="1234440"/>
            <a:ext cx="320040" cy="3200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5" name="Text 19"/>
          <p:cNvSpPr/>
          <p:nvPr/>
        </p:nvSpPr>
        <p:spPr>
          <a:xfrm>
            <a:off x="832104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99516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一键部署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040880" y="237744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编排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个服务快速上线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降低运维成本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标准化环境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总结与展望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已完成工作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完整的数仓分层架构（4 层 24 表）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ETL 数据流水线（自动化调度）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 可视化报表（自研 + Metabase）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智能问数功能（准确率 &gt; 80%）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39319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后续优化方向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ERP 系统深度集成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移动端应用开发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实时数据处理（Kafka / Flink）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3931920" cy="3566160"/>
          </a:xfrm>
          <a:prstGeom prst="rect">
            <a:avLst>
              <a:gd name="adj" fmla="val 2564"/>
            </a:avLst>
          </a:prstGeom>
          <a:solidFill>
            <a:srgbClr val="0F172A"/>
          </a:solidFill>
          <a:ln/>
        </p:spPr>
      </p:sp>
      <p:sp>
        <p:nvSpPr>
          <p:cNvPr id="13" name="Text 9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项目成果一览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035040" y="1645920"/>
            <a:ext cx="9144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数仓表数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张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8580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ETL 流水线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85800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层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02920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准确率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80%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685800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节省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85800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~70%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502920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部署方式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2920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931920" y="2011680"/>
            <a:ext cx="12801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感谢导师的悉心指导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感谢评委老师的聆听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914400"/>
          </a:xfrm>
          <a:prstGeom prst="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基于ERP系统的商业智能报表的设计与实现</dc:title>
  <dc:subject>PptxGenJS Presentation</dc:subject>
  <dc:creator>Huang Qiang</dc:creator>
  <cp:lastModifiedBy>Huang Qiang</cp:lastModifiedBy>
  <cp:revision>1</cp:revision>
  <dcterms:created xsi:type="dcterms:W3CDTF">2026-05-11T03:39:38Z</dcterms:created>
  <dcterms:modified xsi:type="dcterms:W3CDTF">2026-05-11T03:39:38Z</dcterms:modified>
</cp:coreProperties>
</file>