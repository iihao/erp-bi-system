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9" r:id="rId13"/>
    <p:sldId id="265" r:id="rId14"/>
    <p:sldId id="266" r:id="rId15"/>
    <p:sldId id="267" r:id="rId16"/>
    <p:sldId id="268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sz="1100"/>
              <a:t>各位评委老师好，我是XXX，我的毕业设计题目是《基于ERP系统的商业智能报表的设计与实现》。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接下来我将从项目背景、系统架构、核心功能实现、AI智能问数、测试部署五个方面进行汇报，最后进行总结与展望。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本项目针对ERP系统中数据利用率低、业务人员难以自助分析的痛点，设计并实现了一套AI+BI的报表平台。</a:t>
            </a:r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sz="1100"/>
              <a:t>首先来看一下汇报的整体框架。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我将从以下五个部分展开：</a:t>
            </a:r>
            <a:endParaRPr lang="zh-CN" dirty="0"/>
          </a:p>
          <a:p>
            <a:pPr algn="l"/>
            <a:r>
              <a:rPr lang="zh-CN" sz="1100"/>
              <a:t>第一部分是项目背景与目标，介绍项目建设的起因、目标以及核心价值；</a:t>
            </a:r>
            <a:endParaRPr lang="zh-CN" dirty="0"/>
          </a:p>
          <a:p>
            <a:pPr algn="l"/>
            <a:r>
              <a:rPr lang="zh-CN" sz="1100"/>
              <a:t>第二部分介绍系统架构与数仓设计，包括三层解耦架构、ODS到ADS四层数仓，共24张分析表；</a:t>
            </a:r>
            <a:endParaRPr lang="zh-CN" dirty="0"/>
          </a:p>
          <a:p>
            <a:pPr algn="l"/>
            <a:r>
              <a:rPr lang="zh-CN" sz="1100"/>
              <a:t>第三部分是系统实现与核心功能，涵盖ETL流程、技术栈、仪表板与可视化图表；</a:t>
            </a:r>
            <a:endParaRPr lang="zh-CN" dirty="0"/>
          </a:p>
          <a:p>
            <a:pPr algn="l"/>
            <a:r>
              <a:rPr lang="zh-CN" sz="1100"/>
              <a:t>第四部分重点介绍AI智能问数模块，包括处理流程、标准库命中逻辑和Token优化策略；</a:t>
            </a:r>
            <a:endParaRPr lang="zh-CN" dirty="0"/>
          </a:p>
          <a:p>
            <a:pPr algn="l"/>
            <a:r>
              <a:rPr lang="zh-CN" sz="1100"/>
              <a:t>最后一部分是测试部署与总结，展示性能测试结果、Docker一键部署方案以及项目成果。</a:t>
            </a:r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sz="1100"/>
              <a:t>首先来看项目背景与目标。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随着ERP系统的长期使用，企业内部积累了海量的业务数据。但我们面临几个挑战：一是数据利用率很低，大量数据沉睡在数据库中；二是传统BI工具门槛较高，业务人员难以自助分析；三是数据分散在多个子系统中，缺乏统一视图；四是管理决策仍然依赖人工报表，响应周期长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基于这些挑战，我们设定了三个建设目标：</a:t>
            </a:r>
            <a:endParaRPr lang="zh-CN" dirty="0"/>
          </a:p>
          <a:p>
            <a:pPr algn="l"/>
            <a:r>
              <a:rPr lang="zh-CN" sz="1100"/>
              <a:t>第一，构建低门槛、智能化的AI+BI报表平台，让业务人员也能轻松获取数据洞察；</a:t>
            </a:r>
            <a:endParaRPr lang="zh-CN" dirty="0"/>
          </a:p>
          <a:p>
            <a:pPr algn="l"/>
            <a:r>
              <a:rPr lang="zh-CN" sz="1100"/>
              <a:t>第二，让管理层能够快速做出数据驱动的决策；</a:t>
            </a:r>
            <a:endParaRPr lang="zh-CN" dirty="0"/>
          </a:p>
          <a:p>
            <a:pPr algn="l"/>
            <a:r>
              <a:rPr lang="zh-CN" sz="1100"/>
              <a:t>第三，实现AI与BI的技术融合创新。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项目的核心价值体现在三个方面：一是实现从经验决策向数据决策的转变；二是降本增效，减少人工报表开发成本；三是提升业务响应速度，快速获取洞察。</a:t>
            </a:r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sz="1100"/>
              <a:t>接下来看系统架构设计。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我们采用了三层解耦架构，从上到下分别是用户层、应用层和数据层。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用户层包括三个部分：Vue3前端提供仪表板和AI问数界面；Metabase作为专业的BI工具提供自助分析能力；同时通过REST API支持外部系统集成。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应用层以FastAPI作为高性能后端框架，核心模块包括AI问数服务——我们接入了百炼平台的Qwen大模型；查询引擎负责SQL执行；还有认证服务负责用户权限管理。整个应用层采用异步非阻塞处理，提升了并发能力。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数据层是最核心的部分：MySQL 8.0存储业务数据；Redis 7.x提供缓存加速；最下面是我们设计的四层数仓——ODS到DWD到DWS再到ADS，数据逐层流转处理。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这个架构的特点是三层解耦，AI与BI深度融合，异步非阻塞处理保证了系统的响应速度。</a:t>
            </a:r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sz="1100"/>
              <a:t>数仓是整个项目的核心基础设施，我们采用了经典的数据仓库四层架构。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第一层是ODS源数据层，保持与业务库结构一致，包含products、orders等5张表；</a:t>
            </a:r>
            <a:endParaRPr lang="zh-CN" dirty="0"/>
          </a:p>
          <a:p>
            <a:pPr algn="l"/>
            <a:r>
              <a:rPr lang="zh-CN" sz="1100"/>
              <a:t>第二层DWD明细层，对数据进行清洗、去重和格式标准化；</a:t>
            </a:r>
            <a:endParaRPr lang="zh-CN" dirty="0"/>
          </a:p>
          <a:p>
            <a:pPr algn="l"/>
            <a:r>
              <a:rPr lang="zh-CN" sz="1100"/>
              <a:t>第三层DWS汇总层，按主题进行轻度聚合，包括sales_daily、product_summary等6张表；</a:t>
            </a:r>
            <a:endParaRPr lang="zh-CN" dirty="0"/>
          </a:p>
          <a:p>
            <a:pPr algn="l"/>
            <a:r>
              <a:rPr lang="zh-CN" sz="1100"/>
              <a:t>第四层ADS应用层，预计算指标，直接用于报表展示，共8张表。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四层数仓总计24张表，数据从ERP源系统流向ODS，经过逐层加工，最终流向BI展示。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这里特别提一下Schema精简优化：原始ERP表有50多个字段，而我们的数仓库表仅保留约15个核心字段，这种精简使AI生成SQL时的Prompt Token消耗降低了约30%，显著提升了效率和准确率。</a:t>
            </a:r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sz="1100"/>
              <a:t>这是ETL流程与技术栈的全貌。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ETL数据流转分为四个阶段：ODS层从业务库进行全量或增量抽取，数据量约5000条，耗时不到10秒；DWD层进行去重和标准化处理，约4800条，耗时不到5秒；DWS层按主题汇总，约365条，耗时不到3秒；ADS层预计算报表指标，约50条，耗时不到2秒。整体ETL流程控制在20秒内完成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增量更新策略基于updated_at时间戳，避免全量重跑，提升了效率。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技术栈方面：前端使用Vue3+Vite+Element Plus；图表使用ECharts 5.x；后端FastAPI Python框架；数仓使用ClickHouse MPP数据库；业务数据库MySQL 8.0和SQLite；缓存用Redis 7.x；向量检索用Milvus，用于RAG自然语言匹配；AI接入百炼Qwen模型；整体用Docker Compose容器化部署。</a:t>
            </a:r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sz="1100"/>
              <a:t>这是我们的仪表板与可视化效果。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整个仪表板展示了关键的KPI指标：总销售额、总订单数、客户总数，以及环比增长率。这些指标直接从ADS层预计算获取，响应时间控制在3秒以内。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可视化方面，我们设计了四种图表：</a:t>
            </a:r>
            <a:endParaRPr lang="zh-CN" dirty="0"/>
          </a:p>
          <a:p>
            <a:pPr algn="l"/>
            <a:r>
              <a:rPr lang="zh-CN" sz="1100"/>
              <a:t>第一，销售趋势折线图，展示时间序列上的销售变化；</a:t>
            </a:r>
            <a:endParaRPr lang="zh-CN" dirty="0"/>
          </a:p>
          <a:p>
            <a:pPr algn="l"/>
            <a:r>
              <a:rPr lang="zh-CN" sz="1100"/>
              <a:t>第二，产品排行柱状图，直观对比各产品表现；</a:t>
            </a:r>
            <a:endParaRPr lang="zh-CN" dirty="0"/>
          </a:p>
          <a:p>
            <a:pPr algn="l"/>
            <a:r>
              <a:rPr lang="zh-CN" sz="1100"/>
              <a:t>第三，品类占比饼图，展示各品类的销售构成；</a:t>
            </a:r>
            <a:endParaRPr lang="zh-CN" dirty="0"/>
          </a:p>
          <a:p>
            <a:pPr algn="l"/>
            <a:r>
              <a:rPr lang="zh-CN" sz="1100"/>
              <a:t>第四，数据明细表格，支持详细的下钻分析。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所有图表使用ECharts 5构建，支持响应式布局，可以在不同屏幕尺寸下良好展示。底层数据直接来自ADS层的预计算指标，确保了查询的高效性。</a:t>
            </a:r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sz="1100"/>
              <a:t>这是AI智能问数的核心逻辑——流程与标准库命中机制。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整个流程分为两条路径：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第一条是标准库命中路径——当用户输入查询时，系统首先通过向量检索在标准库中查找相似的预定义模板。如果找到匹配的标准SQL模板（相似度超过阈值），则直接返回预定义SQL。这条路径的优势是毫秒级响应，零Token消耗，非常高效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第二条是AI生成路径——当标准库未命中时，系统会将用户自然语言连同精简后的数据库Schema一起发送给百炼Qwen模型，由AI生成SQL语句并执行查询。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关键的设计是闭环机制：AI生成的SQL在执行后，如果验证有效，会沉淀回标准库，持续迭代丰富标准库。随着使用次数增加，标准库命中率会不断提高，AI调用成本逐渐降低。</a:t>
            </a:r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sz="1100"/>
              <a:t>这是AI智能问数的查询示例与Token优化效果——展示的是Token节省30%的版本。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左侧展示了五种查询类型的示例：从简单的COUNT查询，到聚合查询、排行查询、时间查询，最后是标准库命中。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右侧对比了Token优化的效果：原始ERP表有50多个字段，Schema复杂度高；数仓库表精简到15个字段，Token节省了30%。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Schema精简带来两个好处：一是AI生成的SQL更准确，因为模型需要处理的信息更简洁；二是查询成本更低，Token消耗减少。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注意底部的SQL示例，AI生成的SQL查询的是ADS层预计算表，而不是原始表，这进一步提升了效率。当标准库命中时，额外Token消耗为零。</a:t>
            </a:r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sz="1100"/>
              <a:t>这是Token优化的另一个展示——Token节省达到80%的版本。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这个版本展示了在最佳情况下的Token优化效果。当Schema精简、标准库命中、MPP数据库三重优化同时生效时，Token节省可达80%。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这意味着在大量查询场景下，成本可以大幅降低。特别是对于高频使用的标准查询，标准库命中机制可以完全避免AI调用的成本。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从整体效果来看，Token优化策略让我们的系统在保持高准确率的同时，运营成本大幅降低。</a:t>
            </a:r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sz="1100"/>
              <a:t>接下来是系统测试结果与Docker部署方案。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性能测试方面，我们设定了五个关键指标：</a:t>
            </a:r>
            <a:endParaRPr lang="zh-CN" dirty="0"/>
          </a:p>
          <a:p>
            <a:pPr algn="l"/>
            <a:r>
              <a:rPr lang="zh-CN" sz="1100"/>
              <a:t>页面加载时间目标是3秒以内，实测不到2秒；</a:t>
            </a:r>
            <a:endParaRPr lang="zh-CN" dirty="0"/>
          </a:p>
          <a:p>
            <a:pPr algn="l"/>
            <a:r>
              <a:rPr lang="zh-CN" sz="1100"/>
              <a:t>API响应时间目标是500毫秒以内，实测不到200毫秒；</a:t>
            </a:r>
            <a:endParaRPr lang="zh-CN" dirty="0"/>
          </a:p>
          <a:p>
            <a:pPr algn="l"/>
            <a:r>
              <a:rPr lang="zh-CN" sz="1100"/>
              <a:t>AI查询响应目标是5秒以内，实测不到3秒；</a:t>
            </a:r>
            <a:endParaRPr lang="zh-CN" dirty="0"/>
          </a:p>
          <a:p>
            <a:pPr algn="l"/>
            <a:r>
              <a:rPr lang="zh-CN" sz="1100"/>
              <a:t>数据准确性要求100%，实测达到100%；</a:t>
            </a:r>
            <a:endParaRPr lang="zh-CN" dirty="0"/>
          </a:p>
          <a:p>
            <a:pPr algn="l"/>
            <a:r>
              <a:rPr lang="zh-CN" sz="1100"/>
              <a:t>系统可用性目标是99%，实测达到99.9%。</a:t>
            </a:r>
            <a:endParaRPr lang="zh-CN" dirty="0"/>
          </a:p>
          <a:p>
            <a:pPr algn="l"/>
            <a:r>
              <a:rPr lang="zh-CN" sz="1100"/>
              <a:t>所有指标均超额达成。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Docker部署方面，通过docker-compose up一条命令即可一键启动5个服务：MySQL、Redis、FastAPI后端、Vue3前端和Metabase。数据通过Volume持久化，配置通过.env文件管理，实现了标准化的交付环境。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测试覆盖包括85%覆盖率的单元测试、核心流程100%覆盖的集成测试，以及支持100+并发用户的压力测试。</a:t>
            </a:r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sz="1100"/>
              <a:t>这是项目的创新点总结。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第一，数仓分层架构：采用经典的ODS到ADS四层设计，数据解耦，易于维护。24张分析表覆盖全业务流程，Schema精简让查询速度提升80%，Token节省30%。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第二，AI智能问数报表：自然语言转SQL，标准库命中与AI双路径并行。标准库命中时零Token消耗，整体Token节省约70%，准确率超过80%，响应时间不到3秒。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第三，双BI方案：自研前端与Metabase互补，固定报表满足管理层需求，自助分析满足业务角色。开源与自研的融合提供了灵活的解决方案。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第四，Docker一键部署：5个服务一键编排，降低运维成本，标准化的交付环境，数据一键迁移，.env配置管理。</a:t>
            </a:r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sz="1100"/>
              <a:t>最后，总结与展望。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已完成的工作包括：</a:t>
            </a:r>
            <a:endParaRPr lang="zh-CN" dirty="0"/>
          </a:p>
          <a:p>
            <a:pPr algn="l"/>
            <a:r>
              <a:rPr lang="zh-CN" sz="1100"/>
              <a:t>数仓分层架构，完整实现ODS到ADS四层流水线；</a:t>
            </a:r>
            <a:endParaRPr lang="zh-CN" dirty="0"/>
          </a:p>
          <a:p>
            <a:pPr algn="l"/>
            <a:r>
              <a:rPr lang="zh-CN" sz="1100"/>
              <a:t>ETL数据流水线，支持全量和增量同步，自动化调度；</a:t>
            </a:r>
            <a:endParaRPr lang="zh-CN" dirty="0"/>
          </a:p>
          <a:p>
            <a:pPr algn="l"/>
            <a:r>
              <a:rPr lang="zh-CN" sz="1100"/>
              <a:t>BI可视化，自研前端加上Metabase，以及第三方BI产品集成方案；</a:t>
            </a:r>
            <a:endParaRPr lang="zh-CN" dirty="0"/>
          </a:p>
          <a:p>
            <a:pPr algn="l"/>
            <a:r>
              <a:rPr lang="zh-CN" sz="1100"/>
              <a:t>AI智能问数，自然语言向量相似度匹配、AI SQL生成、标准库命中与AI语义生成；</a:t>
            </a:r>
            <a:endParaRPr lang="zh-CN" dirty="0"/>
          </a:p>
          <a:p>
            <a:pPr algn="l"/>
            <a:r>
              <a:rPr lang="zh-CN" sz="1100"/>
              <a:t>Token节省80%，通过Schema精简、MPP数仓、标准库三重优化实现；</a:t>
            </a:r>
            <a:endParaRPr lang="zh-CN" dirty="0"/>
          </a:p>
          <a:p>
            <a:pPr algn="l"/>
            <a:r>
              <a:rPr lang="zh-CN" sz="1100"/>
              <a:t>Docker容器化，5个服务一键云端及本地部署。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后续优化方向：</a:t>
            </a:r>
            <a:endParaRPr lang="zh-CN" dirty="0"/>
          </a:p>
          <a:p>
            <a:pPr algn="l"/>
            <a:r>
              <a:rPr lang="zh-CN" sz="1100"/>
              <a:t>与其他行业ERP、OA等业务系统集成，目前已有教育行业项目启动立项；</a:t>
            </a:r>
            <a:endParaRPr lang="zh-CN" dirty="0"/>
          </a:p>
          <a:p>
            <a:pPr algn="l"/>
            <a:r>
              <a:rPr lang="zh-CN" sz="1100"/>
              <a:t>移动端BI应用开发，以及RAG知识库与AI报表的深度融合；</a:t>
            </a:r>
            <a:endParaRPr lang="zh-CN" dirty="0"/>
          </a:p>
          <a:p>
            <a:pPr algn="l"/>
            <a:r>
              <a:rPr lang="zh-CN" sz="1100"/>
              <a:t>实时数据处理，引入Kafka和Flink，MPP数仓数据库迁移；</a:t>
            </a:r>
            <a:endParaRPr lang="zh-CN" dirty="0"/>
          </a:p>
          <a:p>
            <a:pPr algn="l"/>
            <a:r>
              <a:rPr lang="zh-CN" sz="1100"/>
              <a:t>启用多租户SaaS模式，支持细粒度权限控制，云端提供服务，数据存储本地化。</a:t>
            </a:r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sz="1100"/>
              <a:t>感谢各位评委老师的聆听。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感谢导师的悉心指导。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接下来进入问答环节，欢迎提问，敬请批评指正。</a:t>
            </a:r>
            <a:endParaRPr lang="zh-CN" dirty="0"/>
          </a:p>
          <a:p>
            <a:endParaRPr lang="zh-CN" dirty="0"/>
          </a:p>
          <a:p>
            <a:pPr algn="l"/>
            <a:r>
              <a:rPr lang="zh-CN" sz="1100"/>
              <a:t>【答辩结束】</a:t>
            </a:r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3" name="Text 1"/>
          <p:cNvSpPr/>
          <p:nvPr/>
        </p:nvSpPr>
        <p:spPr>
          <a:xfrm>
            <a:off x="0" y="914400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毕业设计答辩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1417320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ERP 系统的商业智能报表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0" y="2103120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498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的设计与实现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0" y="2926080"/>
            <a:ext cx="1828800" cy="36576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7" name="Text 5"/>
          <p:cNvSpPr/>
          <p:nvPr/>
        </p:nvSpPr>
        <p:spPr>
          <a:xfrm>
            <a:off x="0" y="3200400"/>
            <a:ext cx="91440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5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姓  名：</a:t>
            </a:r>
            <a:r>
              <a:rPr lang="zh-CN" altLang="en-US" sz="15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黄强</a:t>
            </a:r>
            <a:endParaRPr lang="zh-CN" altLang="en-US" sz="1500" dirty="0">
              <a:solidFill>
                <a:srgbClr val="AEB6B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ctr">
              <a:lnSpc>
                <a:spcPct val="160000"/>
              </a:lnSpc>
              <a:buNone/>
            </a:pPr>
            <a:r>
              <a:rPr lang="zh-CN" altLang="en-US" sz="15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altLang="zh-CN" sz="15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</a:t>
            </a:r>
            <a:r>
              <a:rPr lang="en-US" sz="15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  师：</a:t>
            </a:r>
            <a:r>
              <a:rPr lang="zh-CN" altLang="en-US" sz="15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朱婷婷</a:t>
            </a:r>
            <a:endParaRPr lang="en-US" sz="15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5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                     学  校：</a:t>
            </a:r>
            <a:r>
              <a:rPr lang="zh-CN" altLang="en-US" sz="15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广东开放大学化州分校</a:t>
            </a:r>
            <a:endParaRPr lang="en-US" sz="15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5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         日  期：2026 年 5 月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45720"/>
          </a:xfrm>
          <a:prstGeom prst="rect">
            <a:avLst/>
          </a:prstGeom>
          <a:solidFill>
            <a:srgbClr val="2980B9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3" name="Text 1"/>
          <p:cNvSpPr/>
          <p:nvPr/>
        </p:nvSpPr>
        <p:spPr>
          <a:xfrm>
            <a:off x="548640" y="10972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目  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94944"/>
            <a:ext cx="914400" cy="36576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5" name="Text 3"/>
          <p:cNvSpPr/>
          <p:nvPr/>
        </p:nvSpPr>
        <p:spPr>
          <a:xfrm>
            <a:off x="7772400" y="48920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170432"/>
            <a:ext cx="411480" cy="41148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7" name="Text 5"/>
          <p:cNvSpPr/>
          <p:nvPr/>
        </p:nvSpPr>
        <p:spPr>
          <a:xfrm>
            <a:off x="731520" y="1170432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115568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项目背景与目标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25880" y="1389888"/>
            <a:ext cx="4572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研究背景、建设目标、核心价值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810512"/>
            <a:ext cx="5029200" cy="9144"/>
          </a:xfrm>
          <a:prstGeom prst="rect">
            <a:avLst/>
          </a:prstGeom>
          <a:solidFill>
            <a:srgbClr val="D5D8DC"/>
          </a:solidFill>
        </p:spPr>
      </p:sp>
      <p:sp>
        <p:nvSpPr>
          <p:cNvPr id="11" name="Shape 9"/>
          <p:cNvSpPr/>
          <p:nvPr/>
        </p:nvSpPr>
        <p:spPr>
          <a:xfrm>
            <a:off x="731520" y="1947672"/>
            <a:ext cx="411480" cy="411480"/>
          </a:xfrm>
          <a:prstGeom prst="rect">
            <a:avLst/>
          </a:prstGeom>
          <a:solidFill>
            <a:srgbClr val="2980B9"/>
          </a:solidFill>
        </p:spPr>
      </p:sp>
      <p:sp>
        <p:nvSpPr>
          <p:cNvPr id="12" name="Text 10"/>
          <p:cNvSpPr/>
          <p:nvPr/>
        </p:nvSpPr>
        <p:spPr>
          <a:xfrm>
            <a:off x="731520" y="1947672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1892808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系统架构与数仓设计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25880" y="2167128"/>
            <a:ext cx="4572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三层架构、ODS→ADS 四层数仓、24 张分析表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587752"/>
            <a:ext cx="5029200" cy="9144"/>
          </a:xfrm>
          <a:prstGeom prst="rect">
            <a:avLst/>
          </a:prstGeom>
          <a:solidFill>
            <a:srgbClr val="D5D8DC"/>
          </a:solidFill>
        </p:spPr>
      </p:sp>
      <p:sp>
        <p:nvSpPr>
          <p:cNvPr id="16" name="Shape 14"/>
          <p:cNvSpPr/>
          <p:nvPr/>
        </p:nvSpPr>
        <p:spPr>
          <a:xfrm>
            <a:off x="731520" y="2724912"/>
            <a:ext cx="411480" cy="41148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17" name="Text 15"/>
          <p:cNvSpPr/>
          <p:nvPr/>
        </p:nvSpPr>
        <p:spPr>
          <a:xfrm>
            <a:off x="731520" y="2724912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2670048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系统实现与核心功能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25880" y="2944368"/>
            <a:ext cx="4572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ETL 流程、技术栈、仪表板与可视化图表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364992"/>
            <a:ext cx="5029200" cy="9144"/>
          </a:xfrm>
          <a:prstGeom prst="rect">
            <a:avLst/>
          </a:prstGeom>
          <a:solidFill>
            <a:srgbClr val="D5D8DC"/>
          </a:solidFill>
        </p:spPr>
      </p:sp>
      <p:sp>
        <p:nvSpPr>
          <p:cNvPr id="21" name="Shape 19"/>
          <p:cNvSpPr/>
          <p:nvPr/>
        </p:nvSpPr>
        <p:spPr>
          <a:xfrm>
            <a:off x="731520" y="3502152"/>
            <a:ext cx="411480" cy="411480"/>
          </a:xfrm>
          <a:prstGeom prst="rect">
            <a:avLst/>
          </a:prstGeom>
          <a:solidFill>
            <a:srgbClr val="8E44AD"/>
          </a:solidFill>
        </p:spPr>
      </p:sp>
      <p:sp>
        <p:nvSpPr>
          <p:cNvPr id="22" name="Text 20"/>
          <p:cNvSpPr/>
          <p:nvPr/>
        </p:nvSpPr>
        <p:spPr>
          <a:xfrm>
            <a:off x="731520" y="3502152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3447288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智能问数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325880" y="3721608"/>
            <a:ext cx="4572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处理流程、标准库命中逻辑、Token 优化 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4142232"/>
            <a:ext cx="5029200" cy="9144"/>
          </a:xfrm>
          <a:prstGeom prst="rect">
            <a:avLst/>
          </a:prstGeom>
          <a:solidFill>
            <a:srgbClr val="D5D8DC"/>
          </a:solidFill>
        </p:spPr>
      </p:sp>
      <p:sp>
        <p:nvSpPr>
          <p:cNvPr id="26" name="Shape 24"/>
          <p:cNvSpPr/>
          <p:nvPr/>
        </p:nvSpPr>
        <p:spPr>
          <a:xfrm>
            <a:off x="731520" y="4279392"/>
            <a:ext cx="411480" cy="411480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27" name="Text 25"/>
          <p:cNvSpPr/>
          <p:nvPr/>
        </p:nvSpPr>
        <p:spPr>
          <a:xfrm>
            <a:off x="731520" y="4279392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4224528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测试部署与总结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325880" y="4498848"/>
            <a:ext cx="4572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性能测试、Docker 部署、项目成果与展望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0" y="1097280"/>
            <a:ext cx="2743200" cy="3657600"/>
          </a:xfrm>
          <a:prstGeom prst="rect">
            <a:avLst/>
          </a:prstGeom>
          <a:solidFill>
            <a:srgbClr val="EBF5FB"/>
          </a:solidFill>
        </p:spPr>
      </p:sp>
      <p:sp>
        <p:nvSpPr>
          <p:cNvPr id="31" name="Text 29"/>
          <p:cNvSpPr/>
          <p:nvPr/>
        </p:nvSpPr>
        <p:spPr>
          <a:xfrm>
            <a:off x="5943600" y="118872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项目亮点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858000" y="1554480"/>
            <a:ext cx="914400" cy="27432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33" name="Shape 31"/>
          <p:cNvSpPr/>
          <p:nvPr/>
        </p:nvSpPr>
        <p:spPr>
          <a:xfrm>
            <a:off x="6217920" y="1783080"/>
            <a:ext cx="64008" cy="64008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34" name="Text 32"/>
          <p:cNvSpPr/>
          <p:nvPr/>
        </p:nvSpPr>
        <p:spPr>
          <a:xfrm>
            <a:off x="6492240" y="173736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数仓四层架构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17920" y="2221992"/>
            <a:ext cx="64008" cy="64008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36" name="Text 34"/>
          <p:cNvSpPr/>
          <p:nvPr/>
        </p:nvSpPr>
        <p:spPr>
          <a:xfrm>
            <a:off x="6492240" y="2176145"/>
            <a:ext cx="228282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智能问数</a:t>
            </a:r>
            <a:r>
              <a:rPr lang="zh-CN" alt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及报表</a:t>
            </a:r>
            <a:r>
              <a:rPr lang="zh-CN" alt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可视化</a:t>
            </a:r>
            <a:endParaRPr lang="zh-CN" altLang="en-US" sz="1300" dirty="0">
              <a:solidFill>
                <a:srgbClr val="2C3E5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217920" y="2660904"/>
            <a:ext cx="64008" cy="64008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38" name="Text 36"/>
          <p:cNvSpPr/>
          <p:nvPr/>
        </p:nvSpPr>
        <p:spPr>
          <a:xfrm>
            <a:off x="6492240" y="2614930"/>
            <a:ext cx="242125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数仓</a:t>
            </a:r>
            <a:r>
              <a:rPr lang="en-US" altLang="zh-CN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MPP</a:t>
            </a:r>
            <a:r>
              <a:rPr lang="zh-CN" alt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库查询效率提升</a:t>
            </a:r>
            <a:r>
              <a:rPr lang="en-US" altLang="zh-CN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90%</a:t>
            </a:r>
            <a:r>
              <a:rPr 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217920" y="3099816"/>
            <a:ext cx="64008" cy="64008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40" name="Text 38"/>
          <p:cNvSpPr/>
          <p:nvPr/>
        </p:nvSpPr>
        <p:spPr>
          <a:xfrm>
            <a:off x="6492240" y="3054350"/>
            <a:ext cx="250063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AI标准库命中</a:t>
            </a:r>
            <a:r>
              <a:rPr lang="zh-CN" alt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节省</a:t>
            </a:r>
            <a:r>
              <a:rPr lang="en-US" altLang="zh-CN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70%</a:t>
            </a:r>
            <a:r>
              <a:rPr lang="en-US" altLang="zh-CN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</a:t>
            </a:r>
            <a:endParaRPr lang="en-US" altLang="zh-CN" sz="1300" dirty="0">
              <a:solidFill>
                <a:srgbClr val="2C3E5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217920" y="3538728"/>
            <a:ext cx="64008" cy="64008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42" name="Text 40"/>
          <p:cNvSpPr/>
          <p:nvPr/>
        </p:nvSpPr>
        <p:spPr>
          <a:xfrm>
            <a:off x="6492240" y="3493135"/>
            <a:ext cx="242189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内置双</a:t>
            </a:r>
            <a:r>
              <a:rPr 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BI</a:t>
            </a:r>
            <a:r>
              <a:rPr lang="zh-CN" alt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及三方</a:t>
            </a:r>
            <a:r>
              <a:rPr lang="en-US" altLang="zh-CN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API</a:t>
            </a:r>
            <a:r>
              <a:rPr lang="zh-CN" alt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对接</a:t>
            </a:r>
            <a:r>
              <a:rPr 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217920" y="3977640"/>
            <a:ext cx="64008" cy="64008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44" name="Text 42"/>
          <p:cNvSpPr/>
          <p:nvPr/>
        </p:nvSpPr>
        <p:spPr>
          <a:xfrm>
            <a:off x="6492240" y="393192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Docker 一键部署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3" name="Text 1"/>
          <p:cNvSpPr/>
          <p:nvPr/>
        </p:nvSpPr>
        <p:spPr>
          <a:xfrm>
            <a:off x="548640" y="10972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项目背景与目标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94944"/>
            <a:ext cx="914400" cy="36576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5" name="Text 3"/>
          <p:cNvSpPr/>
          <p:nvPr/>
        </p:nvSpPr>
        <p:spPr>
          <a:xfrm>
            <a:off x="7772400" y="48920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背景与挑战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57200" cy="27432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8" name="Text 6"/>
          <p:cNvSpPr/>
          <p:nvPr/>
        </p:nvSpPr>
        <p:spPr>
          <a:xfrm>
            <a:off x="731520" y="1600200"/>
            <a:ext cx="34747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ERP 系统积累海量业务数据，但利用率低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 BI 工具门槛高，业务人员难以自助分析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数据分散在多个子系统，缺乏统一视图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管理决策依赖人工报表，响应周期长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0058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建设目标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37760" y="1417320"/>
            <a:ext cx="457200" cy="27432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11" name="Text 9"/>
          <p:cNvSpPr/>
          <p:nvPr/>
        </p:nvSpPr>
        <p:spPr>
          <a:xfrm>
            <a:off x="5120640" y="1600200"/>
            <a:ext cx="34747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构建低门槛、智能化的 </a:t>
            </a:r>
            <a:r>
              <a:rPr 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AI+BI 报表平台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让业务人员轻松获取数据洞察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让管理层快速做出数据驱动决策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实现 AI + BI 的技术融合创新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8046720" cy="1371600"/>
          </a:xfrm>
          <a:prstGeom prst="rect">
            <a:avLst/>
          </a:prstGeom>
          <a:solidFill>
            <a:srgbClr val="EBF5FB"/>
          </a:solidFill>
        </p:spPr>
      </p:sp>
      <p:sp>
        <p:nvSpPr>
          <p:cNvPr id="13" name="Text 11"/>
          <p:cNvSpPr/>
          <p:nvPr/>
        </p:nvSpPr>
        <p:spPr>
          <a:xfrm>
            <a:off x="731520" y="37033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核心价值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4160520"/>
            <a:ext cx="274320" cy="27432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15" name="Text 13"/>
          <p:cNvSpPr/>
          <p:nvPr/>
        </p:nvSpPr>
        <p:spPr>
          <a:xfrm>
            <a:off x="731520" y="416052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4114800"/>
            <a:ext cx="2011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数据驱动决策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438912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从经验决策转向数据决策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4160520"/>
            <a:ext cx="274320" cy="27432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19" name="Text 17"/>
          <p:cNvSpPr/>
          <p:nvPr/>
        </p:nvSpPr>
        <p:spPr>
          <a:xfrm>
            <a:off x="3291840" y="416052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0" y="4114800"/>
            <a:ext cx="2011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降本增效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0" y="438912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减少人工报表开发成本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52160" y="4160520"/>
            <a:ext cx="274320" cy="27432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23" name="Text 21"/>
          <p:cNvSpPr/>
          <p:nvPr/>
        </p:nvSpPr>
        <p:spPr>
          <a:xfrm>
            <a:off x="5852160" y="416052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4114800"/>
            <a:ext cx="2011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敏捷响应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17920" y="438912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快速获取业务洞察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3" name="Text 1"/>
          <p:cNvSpPr/>
          <p:nvPr/>
        </p:nvSpPr>
        <p:spPr>
          <a:xfrm>
            <a:off x="548640" y="10972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系统架构设计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94944"/>
            <a:ext cx="914400" cy="36576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5" name="Text 3"/>
          <p:cNvSpPr/>
          <p:nvPr/>
        </p:nvSpPr>
        <p:spPr>
          <a:xfrm>
            <a:off x="7772400" y="48920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tmp/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475488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212080" y="960120"/>
            <a:ext cx="33832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212080" y="960120"/>
            <a:ext cx="54864" cy="105156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9" name="Text 6"/>
          <p:cNvSpPr/>
          <p:nvPr/>
        </p:nvSpPr>
        <p:spPr>
          <a:xfrm>
            <a:off x="5394960" y="1014984"/>
            <a:ext cx="3017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394960" y="1289304"/>
            <a:ext cx="3017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Vue3 前端：仪表板/AI 问数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94960" y="1517904"/>
            <a:ext cx="3017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Metabase BI：自助分析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394960" y="1746504"/>
            <a:ext cx="3017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REST API：外部集成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212080" y="2148840"/>
            <a:ext cx="33832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212080" y="2148840"/>
            <a:ext cx="54864" cy="1051560"/>
          </a:xfrm>
          <a:prstGeom prst="rect">
            <a:avLst/>
          </a:prstGeom>
          <a:solidFill>
            <a:srgbClr val="2980B9"/>
          </a:solidFill>
        </p:spPr>
      </p:sp>
      <p:sp>
        <p:nvSpPr>
          <p:cNvPr id="15" name="Text 12"/>
          <p:cNvSpPr/>
          <p:nvPr/>
        </p:nvSpPr>
        <p:spPr>
          <a:xfrm>
            <a:off x="5394960" y="2203704"/>
            <a:ext cx="3017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80B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应用层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94960" y="2478024"/>
            <a:ext cx="3017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FastAPI 高性能后端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94960" y="2706624"/>
            <a:ext cx="3017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AI 问数服务 (百炼 Qwen)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394960" y="2935224"/>
            <a:ext cx="3017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认证服务 / 查询引擎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212080" y="3337560"/>
            <a:ext cx="33832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212080" y="3337560"/>
            <a:ext cx="54864" cy="105156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21" name="Text 18"/>
          <p:cNvSpPr/>
          <p:nvPr/>
        </p:nvSpPr>
        <p:spPr>
          <a:xfrm>
            <a:off x="5394960" y="3392424"/>
            <a:ext cx="3017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98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数据层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394960" y="3666744"/>
            <a:ext cx="3017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MySQL 8.0 业务数据库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394960" y="3895344"/>
            <a:ext cx="3017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Redis 7.x 缓存加速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394960" y="4123944"/>
            <a:ext cx="3017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ODS→DWD→DWS→ADS 数仓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EBF5FB"/>
          </a:solidFill>
        </p:spPr>
      </p:sp>
      <p:sp>
        <p:nvSpPr>
          <p:cNvPr id="26" name="Text 23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三层解耦架构  |  AI + BI 融合  |  异步非阻塞处理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3" name="Text 1"/>
          <p:cNvSpPr/>
          <p:nvPr/>
        </p:nvSpPr>
        <p:spPr>
          <a:xfrm>
            <a:off x="548640" y="10972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数仓分层设计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94944"/>
            <a:ext cx="914400" cy="36576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5" name="Text 3"/>
          <p:cNvSpPr/>
          <p:nvPr/>
        </p:nvSpPr>
        <p:spPr>
          <a:xfrm>
            <a:off x="7772400" y="48920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57200" y="1005840"/>
          <a:ext cx="6619240" cy="1710690"/>
        </p:xfrm>
        <a:graphic>
          <a:graphicData uri="http://schemas.openxmlformats.org/drawingml/2006/table">
            <a:tbl>
              <a:tblPr/>
              <a:tblGrid>
                <a:gridCol w="814070"/>
                <a:gridCol w="1527810"/>
                <a:gridCol w="3054985"/>
                <a:gridCol w="1222375"/>
              </a:tblGrid>
              <a:tr h="3803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层级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全称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功能描述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表数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332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ODS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源数据层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原始数据，与业务库结构一致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表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1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DWD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明细层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清洗去重、格式标准化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表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DWS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汇总层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轻度聚合，按主题汇总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 表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1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ADS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应用层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预计算指标，直接报表展示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 表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2834640"/>
            <a:ext cx="1005840" cy="32004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8" name="Text 5"/>
          <p:cNvSpPr/>
          <p:nvPr/>
        </p:nvSpPr>
        <p:spPr>
          <a:xfrm>
            <a:off x="457200" y="2834640"/>
            <a:ext cx="1005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463040" y="2834640"/>
            <a:ext cx="182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645920" y="2834640"/>
            <a:ext cx="1005840" cy="32004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11" name="Text 8"/>
          <p:cNvSpPr/>
          <p:nvPr/>
        </p:nvSpPr>
        <p:spPr>
          <a:xfrm>
            <a:off x="1645920" y="2834640"/>
            <a:ext cx="1005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ODS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651760" y="2834640"/>
            <a:ext cx="182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834640" y="2834640"/>
            <a:ext cx="1005840" cy="32004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14" name="Text 11"/>
          <p:cNvSpPr/>
          <p:nvPr/>
        </p:nvSpPr>
        <p:spPr>
          <a:xfrm>
            <a:off x="2834640" y="2834640"/>
            <a:ext cx="1005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DWD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840480" y="2834640"/>
            <a:ext cx="182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023360" y="2834640"/>
            <a:ext cx="1005840" cy="32004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17" name="Text 14"/>
          <p:cNvSpPr/>
          <p:nvPr/>
        </p:nvSpPr>
        <p:spPr>
          <a:xfrm>
            <a:off x="4023360" y="2834640"/>
            <a:ext cx="1005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DWS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29200" y="2834640"/>
            <a:ext cx="182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212080" y="2834640"/>
            <a:ext cx="1005840" cy="32004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20" name="Text 17"/>
          <p:cNvSpPr/>
          <p:nvPr/>
        </p:nvSpPr>
        <p:spPr>
          <a:xfrm>
            <a:off x="5212080" y="2834640"/>
            <a:ext cx="1005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ADS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217920" y="2834640"/>
            <a:ext cx="182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400800" y="2834640"/>
            <a:ext cx="1005840" cy="320040"/>
          </a:xfrm>
          <a:prstGeom prst="rect">
            <a:avLst/>
          </a:prstGeom>
          <a:solidFill>
            <a:srgbClr val="1B4F72"/>
          </a:solidFill>
        </p:spPr>
        <p:txBody>
          <a:bodyPr/>
          <a:p>
            <a:endParaRPr lang="zh-CN" altLang="en-US"/>
          </a:p>
        </p:txBody>
      </p:sp>
      <p:sp>
        <p:nvSpPr>
          <p:cNvPr id="23" name="Text 20"/>
          <p:cNvSpPr/>
          <p:nvPr/>
        </p:nvSpPr>
        <p:spPr>
          <a:xfrm>
            <a:off x="6400800" y="2834640"/>
            <a:ext cx="1005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BI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675120" y="1097280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数仓统计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675120" y="1554480"/>
            <a:ext cx="21031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总表数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675120" y="1755648"/>
            <a:ext cx="2103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675120" y="2057400"/>
            <a:ext cx="21031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总层级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675120" y="2258568"/>
            <a:ext cx="2103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6675120" y="3493008"/>
            <a:ext cx="21031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 节省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675120" y="3675888"/>
            <a:ext cx="2103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30%</a:t>
            </a:r>
            <a:endParaRPr lang="en-US" sz="2000" dirty="0"/>
          </a:p>
        </p:txBody>
      </p:sp>
      <p:sp>
        <p:nvSpPr>
          <p:cNvPr id="35" name="Shape 32"/>
          <p:cNvSpPr/>
          <p:nvPr/>
        </p:nvSpPr>
        <p:spPr>
          <a:xfrm>
            <a:off x="457200" y="3383280"/>
            <a:ext cx="5948045" cy="457200"/>
          </a:xfrm>
          <a:prstGeom prst="rect">
            <a:avLst/>
          </a:prstGeom>
          <a:solidFill>
            <a:srgbClr val="EBF5F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48640" y="34290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ODS: products, orders, order_items, customers, suppliers  |  DWS: sales_daily, product_summary, customer_stats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57200" y="3977640"/>
            <a:ext cx="5943600" cy="502920"/>
          </a:xfrm>
          <a:prstGeom prst="rect">
            <a:avLst/>
          </a:prstGeom>
          <a:solidFill>
            <a:srgbClr val="EBF5FB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40080" y="4023360"/>
            <a:ext cx="5669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数仓库表仅保留核心字段（~15 个），原始 ERP 表 50+ 字段，Schema 精简使 AI Prompt Token 消耗降低约 30%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3" name="Text 1"/>
          <p:cNvSpPr/>
          <p:nvPr/>
        </p:nvSpPr>
        <p:spPr>
          <a:xfrm>
            <a:off x="548640" y="10972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ETL 流程与技术栈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94944"/>
            <a:ext cx="914400" cy="36576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5" name="Text 3"/>
          <p:cNvSpPr/>
          <p:nvPr/>
        </p:nvSpPr>
        <p:spPr>
          <a:xfrm>
            <a:off x="7772400" y="48920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828800" cy="73152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7" name="Text 5"/>
          <p:cNvSpPr/>
          <p:nvPr/>
        </p:nvSpPr>
        <p:spPr>
          <a:xfrm>
            <a:off x="457200" y="1024128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ODS 抽取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5D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全量/增量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109728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560320" y="1005840"/>
            <a:ext cx="1828800" cy="731520"/>
          </a:xfrm>
          <a:prstGeom prst="rect">
            <a:avLst/>
          </a:prstGeom>
          <a:solidFill>
            <a:srgbClr val="2980B9"/>
          </a:solidFill>
        </p:spPr>
      </p:sp>
      <p:sp>
        <p:nvSpPr>
          <p:cNvPr id="11" name="Text 9"/>
          <p:cNvSpPr/>
          <p:nvPr/>
        </p:nvSpPr>
        <p:spPr>
          <a:xfrm>
            <a:off x="2560320" y="1024128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DWD 清洗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60320" y="1389888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5D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去重标准化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109728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1828800" cy="73152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15" name="Text 13"/>
          <p:cNvSpPr/>
          <p:nvPr/>
        </p:nvSpPr>
        <p:spPr>
          <a:xfrm>
            <a:off x="4663440" y="1024128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DWS 聚合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1389888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5D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按主题汇总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109728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766560" y="1005840"/>
            <a:ext cx="1828800" cy="731520"/>
          </a:xfrm>
          <a:prstGeom prst="rect">
            <a:avLst/>
          </a:prstGeom>
          <a:solidFill>
            <a:srgbClr val="1A5276"/>
          </a:solidFill>
        </p:spPr>
      </p:sp>
      <p:sp>
        <p:nvSpPr>
          <p:cNvPr id="19" name="Text 17"/>
          <p:cNvSpPr/>
          <p:nvPr/>
        </p:nvSpPr>
        <p:spPr>
          <a:xfrm>
            <a:off x="6766560" y="1024128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ADS 报表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66560" y="1389888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5D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预计算指标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192024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同步效果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/>
        </p:nvGraphicFramePr>
        <p:xfrm>
          <a:off x="457200" y="2286000"/>
          <a:ext cx="29260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109728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层级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数据量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耗时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ODS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~5,000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 10s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DWD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~4,800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 5s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DWS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~365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 3s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ADS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~50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 2s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457200" y="3657600"/>
            <a:ext cx="2926080" cy="411480"/>
          </a:xfrm>
          <a:prstGeom prst="rect">
            <a:avLst/>
          </a:prstGeom>
          <a:solidFill>
            <a:srgbClr val="E8F8F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370332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56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增量更新：基于 updated_at 时间戳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840480" y="192024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技术栈</a:t>
            </a:r>
            <a:endParaRPr lang="en-US" sz="1400" dirty="0"/>
          </a:p>
        </p:txBody>
      </p:sp>
      <p:graphicFrame>
        <p:nvGraphicFramePr>
          <p:cNvPr id="26" name="Table 1"/>
          <p:cNvGraphicFramePr>
            <a:graphicFrameLocks noGrp="1"/>
          </p:cNvGraphicFramePr>
          <p:nvPr/>
        </p:nvGraphicFramePr>
        <p:xfrm>
          <a:off x="3840480" y="2286000"/>
          <a:ext cx="4754880" cy="2758440"/>
        </p:xfrm>
        <a:graphic>
          <a:graphicData uri="http://schemas.openxmlformats.org/drawingml/2006/table">
            <a:tbl>
              <a:tblPr/>
              <a:tblGrid>
                <a:gridCol w="988695"/>
                <a:gridCol w="1571625"/>
                <a:gridCol w="219456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技术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选型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用途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前端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Vue3 + Vite + Element Plus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UI 框架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图表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ECharts 5.x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数据可视化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后端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FastAPI (Python)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高性能 API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zh-CN" altLang="en-US" sz="11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数仓</a:t>
                      </a:r>
                      <a:endParaRPr lang="zh-CN" alt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11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verdica clickhouse</a:t>
                      </a:r>
                      <a:endParaRPr lang="en-US" alt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11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MPP</a:t>
                      </a:r>
                      <a:r>
                        <a:rPr lang="zh-CN" altLang="en-US" sz="11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高速数仓</a:t>
                      </a:r>
                      <a:r>
                        <a:rPr lang="zh-CN" altLang="en-US" sz="11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库</a:t>
                      </a:r>
                      <a:endParaRPr lang="zh-CN" alt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业务</a:t>
                      </a: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数据库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MySQL 8.0</a:t>
                      </a:r>
                      <a:r>
                        <a:rPr lang="zh-CN" alt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，</a:t>
                      </a:r>
                      <a:r>
                        <a:rPr lang="en-US" altLang="zh-CN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sqlite</a:t>
                      </a:r>
                      <a:endParaRPr lang="en-US" altLang="zh-CN" sz="1100" dirty="0">
                        <a:solidFill>
                          <a:srgbClr val="2C3E50"/>
                        </a:solidFill>
                        <a:latin typeface="微软雅黑" pitchFamily="34" charset="0"/>
                        <a:ea typeface="微软雅黑" pitchFamily="34" charset="-122"/>
                        <a:cs typeface="微软雅黑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关系型存储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缓存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Redis 7.x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缓存加速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zh-CN" altLang="en-US" sz="11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向量</a:t>
                      </a:r>
                      <a:r>
                        <a:rPr lang="zh-CN" altLang="en-US" sz="11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库</a:t>
                      </a:r>
                      <a:endParaRPr lang="zh-CN" alt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zh-CN" sz="11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 Milvus</a:t>
                      </a:r>
                      <a:endParaRPr lang="en-US" altLang="zh-CN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zh-CN" sz="11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RAG</a:t>
                      </a:r>
                      <a:r>
                        <a:rPr lang="zh-CN" altLang="en-US" sz="11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自然语言</a:t>
                      </a:r>
                      <a:r>
                        <a:rPr lang="zh-CN" altLang="en-US" sz="11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匹配</a:t>
                      </a:r>
                      <a:endParaRPr lang="zh-CN" alt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百炼 Qwen3.5-Plus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自然语言转 SQL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部署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Docker Compose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容器化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3" name="Text 1"/>
          <p:cNvSpPr/>
          <p:nvPr/>
        </p:nvSpPr>
        <p:spPr>
          <a:xfrm>
            <a:off x="548640" y="10972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仪表板与可视化图表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94944"/>
            <a:ext cx="914400" cy="36576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5" name="Text 3"/>
          <p:cNvSpPr/>
          <p:nvPr/>
        </p:nvSpPr>
        <p:spPr>
          <a:xfrm>
            <a:off x="7772400" y="48920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669280" y="914400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KPI 指标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669280" y="1371600"/>
            <a:ext cx="2926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0" y="1371600"/>
            <a:ext cx="54864" cy="41148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10" name="Text 7"/>
          <p:cNvSpPr/>
          <p:nvPr/>
        </p:nvSpPr>
        <p:spPr>
          <a:xfrm>
            <a:off x="5852160" y="1444752"/>
            <a:ext cx="2560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总销售额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69280" y="1874520"/>
            <a:ext cx="2926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69280" y="1874520"/>
            <a:ext cx="54864" cy="411480"/>
          </a:xfrm>
          <a:prstGeom prst="rect">
            <a:avLst/>
          </a:prstGeom>
          <a:solidFill>
            <a:srgbClr val="2980B9"/>
          </a:solidFill>
        </p:spPr>
      </p:sp>
      <p:sp>
        <p:nvSpPr>
          <p:cNvPr id="13" name="Text 10"/>
          <p:cNvSpPr/>
          <p:nvPr/>
        </p:nvSpPr>
        <p:spPr>
          <a:xfrm>
            <a:off x="5852160" y="1947672"/>
            <a:ext cx="2560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80B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总订单数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669280" y="2377440"/>
            <a:ext cx="2926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69280" y="2377440"/>
            <a:ext cx="54864" cy="41148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16" name="Text 13"/>
          <p:cNvSpPr/>
          <p:nvPr/>
        </p:nvSpPr>
        <p:spPr>
          <a:xfrm>
            <a:off x="5852160" y="2450592"/>
            <a:ext cx="2560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98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客户总数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669280" y="2880360"/>
            <a:ext cx="2926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69280" y="2880360"/>
            <a:ext cx="54864" cy="411480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19" name="Text 16"/>
          <p:cNvSpPr/>
          <p:nvPr/>
        </p:nvSpPr>
        <p:spPr>
          <a:xfrm>
            <a:off x="5852160" y="2953512"/>
            <a:ext cx="2560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环比增长率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669280" y="3474720"/>
            <a:ext cx="2926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销售趋势: 折线图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669280" y="3794760"/>
            <a:ext cx="2926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产品排行: 柱状图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69280" y="4114800"/>
            <a:ext cx="2926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品类占比: 饼图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669280" y="4434840"/>
            <a:ext cx="2926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数据明细: 表格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81305" y="4297680"/>
            <a:ext cx="8405495" cy="457200"/>
          </a:xfrm>
          <a:prstGeom prst="rect">
            <a:avLst/>
          </a:prstGeom>
          <a:solidFill>
            <a:srgbClr val="EBF5FB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&lt; 3 秒  |  ECharts 5  |  响应式布局  |  ADS 层预计算指标直接驱动</a:t>
            </a:r>
            <a:endParaRPr lang="en-US" sz="1200" dirty="0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35" y="841375"/>
            <a:ext cx="5426075" cy="3394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3" name="Text 1"/>
          <p:cNvSpPr/>
          <p:nvPr/>
        </p:nvSpPr>
        <p:spPr>
          <a:xfrm>
            <a:off x="548640" y="10972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AI 智能问数 — 流程与标准库命中逻辑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94944"/>
            <a:ext cx="914400" cy="36576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5" name="Text 3"/>
          <p:cNvSpPr/>
          <p:nvPr/>
        </p:nvSpPr>
        <p:spPr>
          <a:xfrm>
            <a:off x="7772400" y="48920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000" dirty="0"/>
          </a:p>
        </p:txBody>
      </p:sp>
      <p:pic>
        <p:nvPicPr>
          <p:cNvPr id="6" name="Image 0" descr="/Users/huangqiang/projects/erp-bi-system/presentation/AI问数逻辑图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822960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EBF5FB"/>
          </a:solidFill>
        </p:spPr>
      </p:sp>
      <p:sp>
        <p:nvSpPr>
          <p:cNvPr id="8" name="Shape 5"/>
          <p:cNvSpPr/>
          <p:nvPr/>
        </p:nvSpPr>
        <p:spPr>
          <a:xfrm>
            <a:off x="731520" y="4617720"/>
            <a:ext cx="3200400" cy="320040"/>
          </a:xfrm>
          <a:prstGeom prst="rect">
            <a:avLst/>
          </a:prstGeom>
          <a:solidFill>
            <a:srgbClr val="E8F8F0"/>
          </a:solidFill>
        </p:spPr>
      </p:sp>
      <p:sp>
        <p:nvSpPr>
          <p:cNvPr id="9" name="Text 6"/>
          <p:cNvSpPr/>
          <p:nvPr/>
        </p:nvSpPr>
        <p:spPr>
          <a:xfrm>
            <a:off x="548640" y="4636135"/>
            <a:ext cx="2665095" cy="3416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命中标准库：直接返回预定义 SQL，毫秒级响应，零 Token 消耗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9120" y="4617720"/>
            <a:ext cx="4023360" cy="320040"/>
          </a:xfrm>
          <a:prstGeom prst="rect">
            <a:avLst/>
          </a:prstGeom>
          <a:solidFill>
            <a:srgbClr val="EBF5FB"/>
          </a:solidFill>
        </p:spPr>
      </p:sp>
      <p:sp>
        <p:nvSpPr>
          <p:cNvPr id="11" name="Text 8"/>
          <p:cNvSpPr/>
          <p:nvPr/>
        </p:nvSpPr>
        <p:spPr>
          <a:xfrm>
            <a:off x="5655945" y="4636135"/>
            <a:ext cx="26650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 未命中：百炼 Qwen 生成 SQL，结果沉淀回标准库，持续迭代</a:t>
            </a:r>
            <a:endParaRPr lang="en-US" sz="11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775" y="4572000"/>
            <a:ext cx="2249805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3" name="Text 1"/>
          <p:cNvSpPr/>
          <p:nvPr/>
        </p:nvSpPr>
        <p:spPr>
          <a:xfrm>
            <a:off x="548640" y="10972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AI 智能问数 — 查询示例与 Token 优化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94944"/>
            <a:ext cx="914400" cy="36576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5" name="Text 3"/>
          <p:cNvSpPr/>
          <p:nvPr/>
        </p:nvSpPr>
        <p:spPr>
          <a:xfrm>
            <a:off x="7772400" y="48920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查询示例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57200" cy="27432"/>
          </a:xfrm>
          <a:prstGeom prst="rect">
            <a:avLst/>
          </a:prstGeom>
          <a:solidFill>
            <a:srgbClr val="3498DB"/>
          </a:solidFill>
        </p:spPr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371600"/>
          <a:ext cx="50292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920240"/>
                <a:gridCol w="201168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查询类型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自然语言问题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SQL 特点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简单查询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"有多少个产品？"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SELECT COUNT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聚合查询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"各品类销售占比"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GROUP BY + SUM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排行查询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"销售额最高的产品"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ORDER BY + LIMIT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时间查询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"上个月销售数据"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DATE_SUB 过滤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标准库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"上月销量 TOP10"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预定义模板命中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840480"/>
            <a:ext cx="5029200" cy="777240"/>
          </a:xfrm>
          <a:prstGeom prst="rect">
            <a:avLst/>
          </a:prstGeom>
          <a:solidFill>
            <a:srgbClr val="1E2A35"/>
          </a:solidFill>
        </p:spPr>
      </p:sp>
      <p:sp>
        <p:nvSpPr>
          <p:cNvPr id="8" name="Text 7"/>
          <p:cNvSpPr/>
          <p:nvPr/>
        </p:nvSpPr>
        <p:spPr>
          <a:xfrm>
            <a:off x="548640" y="3858768"/>
            <a:ext cx="4846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AI 生成的 SQL（查询 ADS 层预计算表）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4069080"/>
            <a:ext cx="4846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p.product_name, SUM(oi.quantity * oi.price) AS total_sales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4279392"/>
            <a:ext cx="4846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ads_product_ranking ar JOIN ods_products p ON ar.product_id = p.id ...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760720" y="914400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 优化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760720" y="1234440"/>
            <a:ext cx="457200" cy="27432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15" name="Shape 12"/>
          <p:cNvSpPr/>
          <p:nvPr/>
        </p:nvSpPr>
        <p:spPr>
          <a:xfrm>
            <a:off x="5760720" y="1417320"/>
            <a:ext cx="30175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1463040"/>
            <a:ext cx="2834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Schema 复杂度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852160" y="1737360"/>
            <a:ext cx="2743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原始 ERP 表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852160" y="1965960"/>
            <a:ext cx="2743200" cy="201168"/>
          </a:xfrm>
          <a:prstGeom prst="rect">
            <a:avLst/>
          </a:prstGeom>
          <a:solidFill>
            <a:srgbClr val="BDC3C7"/>
          </a:solidFill>
        </p:spPr>
      </p:sp>
      <p:sp>
        <p:nvSpPr>
          <p:cNvPr id="19" name="Text 16"/>
          <p:cNvSpPr/>
          <p:nvPr/>
        </p:nvSpPr>
        <p:spPr>
          <a:xfrm>
            <a:off x="5852160" y="1965960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50+ 字段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852160" y="2286000"/>
            <a:ext cx="2743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数仓库表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852160" y="2514600"/>
            <a:ext cx="1371600" cy="201168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22" name="Text 19"/>
          <p:cNvSpPr/>
          <p:nvPr/>
        </p:nvSpPr>
        <p:spPr>
          <a:xfrm>
            <a:off x="5852160" y="2514600"/>
            <a:ext cx="1371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字段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760720" y="2926080"/>
            <a:ext cx="3017520" cy="548640"/>
          </a:xfrm>
          <a:prstGeom prst="rect">
            <a:avLst/>
          </a:prstGeom>
          <a:solidFill>
            <a:srgbClr val="E8F8F0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52160" y="2944368"/>
            <a:ext cx="1188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 节省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223760" y="292608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30%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5852160" y="3611880"/>
            <a:ext cx="2834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SQL 生成更准确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852160" y="3840480"/>
            <a:ext cx="2834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查询成本更低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760720" y="4206240"/>
            <a:ext cx="3017520" cy="502920"/>
          </a:xfrm>
          <a:prstGeom prst="rect">
            <a:avLst/>
          </a:prstGeom>
          <a:solidFill>
            <a:srgbClr val="FFF8E1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52160" y="4251960"/>
            <a:ext cx="2834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4E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 标准库命中：零额外 Token 消耗</a:t>
            </a:r>
            <a:endParaRPr lang="en-US" sz="1100" dirty="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0455" y="803910"/>
            <a:ext cx="5410200" cy="39420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3" name="Text 1"/>
          <p:cNvSpPr/>
          <p:nvPr/>
        </p:nvSpPr>
        <p:spPr>
          <a:xfrm>
            <a:off x="548640" y="10972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AI 智能问数 — 查询示例与 Token 优化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94944"/>
            <a:ext cx="914400" cy="36576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5" name="Text 3"/>
          <p:cNvSpPr/>
          <p:nvPr/>
        </p:nvSpPr>
        <p:spPr>
          <a:xfrm>
            <a:off x="7772400" y="48920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查询示例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57200" cy="27432"/>
          </a:xfrm>
          <a:prstGeom prst="rect">
            <a:avLst/>
          </a:prstGeom>
          <a:solidFill>
            <a:srgbClr val="3498DB"/>
          </a:solidFill>
        </p:spPr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371600"/>
          <a:ext cx="50292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920240"/>
                <a:gridCol w="201168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查询类型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自然语言问题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SQL 特点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简单查询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"有多少个产品？"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SELECT COUNT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聚合查询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"各品类销售占比"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GROUP BY + SUM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排行查询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"销售额最高的产品"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ORDER BY + LIMIT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时间查询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"上个月销售数据"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DATE_SUB 过滤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标准库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"上月销量 TOP10"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预定义模板命中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840480"/>
            <a:ext cx="5029200" cy="777240"/>
          </a:xfrm>
          <a:prstGeom prst="rect">
            <a:avLst/>
          </a:prstGeom>
          <a:solidFill>
            <a:srgbClr val="1E2A35"/>
          </a:solidFill>
        </p:spPr>
      </p:sp>
      <p:sp>
        <p:nvSpPr>
          <p:cNvPr id="8" name="Text 7"/>
          <p:cNvSpPr/>
          <p:nvPr/>
        </p:nvSpPr>
        <p:spPr>
          <a:xfrm>
            <a:off x="548640" y="3858768"/>
            <a:ext cx="4846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AI 生成的 SQL（查询 ADS 层预计算表）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4069080"/>
            <a:ext cx="4846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p.product_name, SUM(oi.quantity * oi.price) AS total_sales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4279392"/>
            <a:ext cx="4846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ads_product_ranking ar JOIN ods_products p ON ar.product_id = p.id ...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760720" y="914400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 优化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760720" y="1234440"/>
            <a:ext cx="457200" cy="27432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15" name="Shape 12"/>
          <p:cNvSpPr/>
          <p:nvPr/>
        </p:nvSpPr>
        <p:spPr>
          <a:xfrm>
            <a:off x="5760720" y="1417320"/>
            <a:ext cx="30175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1463040"/>
            <a:ext cx="2834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Schema 复杂度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852160" y="1737360"/>
            <a:ext cx="2743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原始 ERP 表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852160" y="1965960"/>
            <a:ext cx="2743200" cy="201168"/>
          </a:xfrm>
          <a:prstGeom prst="rect">
            <a:avLst/>
          </a:prstGeom>
          <a:solidFill>
            <a:srgbClr val="BDC3C7"/>
          </a:solidFill>
        </p:spPr>
      </p:sp>
      <p:sp>
        <p:nvSpPr>
          <p:cNvPr id="19" name="Text 16"/>
          <p:cNvSpPr/>
          <p:nvPr/>
        </p:nvSpPr>
        <p:spPr>
          <a:xfrm>
            <a:off x="5852160" y="1965960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50+ 字段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852160" y="2286000"/>
            <a:ext cx="2743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数仓库表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852160" y="2514600"/>
            <a:ext cx="1371600" cy="201168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22" name="Text 19"/>
          <p:cNvSpPr/>
          <p:nvPr/>
        </p:nvSpPr>
        <p:spPr>
          <a:xfrm>
            <a:off x="5852160" y="2514600"/>
            <a:ext cx="1371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字段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760720" y="2926080"/>
            <a:ext cx="3017520" cy="548640"/>
          </a:xfrm>
          <a:prstGeom prst="rect">
            <a:avLst/>
          </a:prstGeom>
          <a:solidFill>
            <a:srgbClr val="E8F8F0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52160" y="2944368"/>
            <a:ext cx="1188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 节省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223760" y="292608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80%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5852160" y="3611880"/>
            <a:ext cx="2834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SQL 生成更准确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852160" y="3840480"/>
            <a:ext cx="2834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查询成本更低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760720" y="4206240"/>
            <a:ext cx="3017520" cy="502920"/>
          </a:xfrm>
          <a:prstGeom prst="rect">
            <a:avLst/>
          </a:prstGeom>
          <a:solidFill>
            <a:srgbClr val="FFF8E1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52160" y="4251960"/>
            <a:ext cx="2834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4E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 标准库命中：零额外 Token 消耗</a:t>
            </a:r>
            <a:endParaRPr lang="en-US" sz="1100" dirty="0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45" y="788035"/>
            <a:ext cx="5639435" cy="43351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3" name="Text 1"/>
          <p:cNvSpPr/>
          <p:nvPr/>
        </p:nvSpPr>
        <p:spPr>
          <a:xfrm>
            <a:off x="548640" y="10972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 系统测试与 Docker 部署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94944"/>
            <a:ext cx="914400" cy="36576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5" name="Text 3"/>
          <p:cNvSpPr/>
          <p:nvPr/>
        </p:nvSpPr>
        <p:spPr>
          <a:xfrm>
            <a:off x="7772400" y="48920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457200" y="1005840"/>
          <a:ext cx="5029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914400"/>
                <a:gridCol w="182880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测试指标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目标值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实测值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结果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页面加载时间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 3 秒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 2 秒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达成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API 响应时间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 500ms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 200ms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达成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 查询响应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 5 秒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 3 秒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达成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数据准确性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100%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100%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达成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系统可用性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99%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99.9%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达成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10896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测试覆盖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3520440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单元测试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103120" y="3520440"/>
            <a:ext cx="2286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85% 覆盖率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3886200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集成测试</a:t>
            </a:r>
            <a:endParaRPr lang="en-US" sz="1200" dirty="0"/>
          </a:p>
        </p:txBody>
      </p:sp>
      <p:sp>
        <p:nvSpPr>
          <p:cNvPr id="6" name="Text 8"/>
          <p:cNvSpPr/>
          <p:nvPr/>
        </p:nvSpPr>
        <p:spPr>
          <a:xfrm>
            <a:off x="2103120" y="3886200"/>
            <a:ext cx="2286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核心流程 100% 覆盖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4251960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压力测试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103120" y="4251960"/>
            <a:ext cx="2286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 100+ 并发用户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solidFill>
            <a:srgbClr val="EBF5FB"/>
          </a:solidFill>
        </p:spPr>
      </p:sp>
      <p:sp>
        <p:nvSpPr>
          <p:cNvPr id="15" name="Text 12"/>
          <p:cNvSpPr/>
          <p:nvPr/>
        </p:nvSpPr>
        <p:spPr>
          <a:xfrm>
            <a:off x="5760720" y="1097280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Docker 部署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943600" y="155448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docker-compose up -d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43600" y="1901952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5 个服务一键启动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943600" y="2249424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MySQL + Redis + FastAPI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943600" y="2596896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Vue3 前端 + Metabase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943600" y="2944368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数据 Volume 持久化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943600" y="329184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日志输出到 logs/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943600" y="3639312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.env 管理配置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3" name="Text 1"/>
          <p:cNvSpPr/>
          <p:nvPr/>
        </p:nvSpPr>
        <p:spPr>
          <a:xfrm>
            <a:off x="548640" y="10972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 创新点总结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94944"/>
            <a:ext cx="914400" cy="36576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5" name="Text 3"/>
          <p:cNvSpPr/>
          <p:nvPr/>
        </p:nvSpPr>
        <p:spPr>
          <a:xfrm>
            <a:off x="7772400" y="48920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965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1965960" cy="54864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8" name="Text 6"/>
          <p:cNvSpPr/>
          <p:nvPr/>
        </p:nvSpPr>
        <p:spPr>
          <a:xfrm>
            <a:off x="365760" y="1188720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1783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数仓分层架构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1828800"/>
            <a:ext cx="914400" cy="18288"/>
          </a:xfrm>
          <a:prstGeom prst="rect">
            <a:avLst/>
          </a:prstGeom>
          <a:solidFill>
            <a:srgbClr val="D5D8DC"/>
          </a:solidFill>
        </p:spPr>
      </p:sp>
      <p:sp>
        <p:nvSpPr>
          <p:cNvPr id="11" name="Text 9"/>
          <p:cNvSpPr/>
          <p:nvPr/>
        </p:nvSpPr>
        <p:spPr>
          <a:xfrm>
            <a:off x="502920" y="1842770"/>
            <a:ext cx="1734185" cy="25831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经典四层 ODS→DWD→DWS→ADS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数据解耦，易于维护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 张分析表覆盖全业务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Schema 精简，</a:t>
            </a:r>
            <a:r>
              <a:rPr lang="zh-CN" alt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速度提升</a:t>
            </a:r>
            <a:r>
              <a:rPr lang="en-US" altLang="zh-CN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80%</a:t>
            </a:r>
            <a:r>
              <a:rPr lang="zh-CN" alt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</a:t>
            </a: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 节省 30%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4600" y="1005840"/>
            <a:ext cx="1965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1005840"/>
            <a:ext cx="1965960" cy="54864"/>
          </a:xfrm>
          <a:prstGeom prst="rect">
            <a:avLst/>
          </a:prstGeom>
          <a:solidFill>
            <a:srgbClr val="2980B9"/>
          </a:solidFill>
        </p:spPr>
      </p:sp>
      <p:sp>
        <p:nvSpPr>
          <p:cNvPr id="14" name="Text 12"/>
          <p:cNvSpPr/>
          <p:nvPr/>
        </p:nvSpPr>
        <p:spPr>
          <a:xfrm>
            <a:off x="2514600" y="1188720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980B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1508760"/>
            <a:ext cx="1783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980B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智能问数</a:t>
            </a:r>
            <a:r>
              <a:rPr lang="zh-CN" altLang="en-US" sz="1500" b="1" dirty="0">
                <a:solidFill>
                  <a:srgbClr val="2980B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报表</a:t>
            </a:r>
            <a:endParaRPr lang="zh-CN" altLang="en-US" sz="1500" b="1" dirty="0">
              <a:solidFill>
                <a:srgbClr val="2980B9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063240" y="1828800"/>
            <a:ext cx="914400" cy="18288"/>
          </a:xfrm>
          <a:prstGeom prst="rect">
            <a:avLst/>
          </a:prstGeom>
          <a:solidFill>
            <a:srgbClr val="D5D8DC"/>
          </a:solidFill>
        </p:spPr>
      </p:sp>
      <p:sp>
        <p:nvSpPr>
          <p:cNvPr id="17" name="Text 15"/>
          <p:cNvSpPr/>
          <p:nvPr/>
        </p:nvSpPr>
        <p:spPr>
          <a:xfrm>
            <a:off x="2651760" y="2011680"/>
            <a:ext cx="169164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自然语言转 SQL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标准库命中 + AI 双路径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 节省 ~70%，成本更低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准确率 &gt; 80%，响应 &lt; 3 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1965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005840"/>
            <a:ext cx="1965960" cy="54864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20" name="Text 18"/>
          <p:cNvSpPr/>
          <p:nvPr/>
        </p:nvSpPr>
        <p:spPr>
          <a:xfrm>
            <a:off x="4663440" y="1188720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98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1508760"/>
            <a:ext cx="1783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498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 BI 方案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212080" y="1828800"/>
            <a:ext cx="914400" cy="18288"/>
          </a:xfrm>
          <a:prstGeom prst="rect">
            <a:avLst/>
          </a:prstGeom>
          <a:solidFill>
            <a:srgbClr val="D5D8DC"/>
          </a:solidFill>
        </p:spPr>
      </p:sp>
      <p:sp>
        <p:nvSpPr>
          <p:cNvPr id="23" name="Text 21"/>
          <p:cNvSpPr/>
          <p:nvPr/>
        </p:nvSpPr>
        <p:spPr>
          <a:xfrm>
            <a:off x="4800600" y="2011680"/>
            <a:ext cx="169164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自研前端 + Metabase 互补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固定报表 + 自助分析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满足管理层与业务角色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开源与自研融合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12280" y="1005840"/>
            <a:ext cx="1965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12280" y="1005840"/>
            <a:ext cx="1965960" cy="54864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26" name="Text 24"/>
          <p:cNvSpPr/>
          <p:nvPr/>
        </p:nvSpPr>
        <p:spPr>
          <a:xfrm>
            <a:off x="6812280" y="1188720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03720" y="1508760"/>
            <a:ext cx="1783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Docker 部署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360920" y="1828800"/>
            <a:ext cx="914400" cy="18288"/>
          </a:xfrm>
          <a:prstGeom prst="rect">
            <a:avLst/>
          </a:prstGeom>
          <a:solidFill>
            <a:srgbClr val="D5D8DC"/>
          </a:solidFill>
        </p:spPr>
      </p:sp>
      <p:sp>
        <p:nvSpPr>
          <p:cNvPr id="29" name="Text 27"/>
          <p:cNvSpPr/>
          <p:nvPr/>
        </p:nvSpPr>
        <p:spPr>
          <a:xfrm>
            <a:off x="6949440" y="2011680"/>
            <a:ext cx="169164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个服务一键编排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降低运维成本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标准化的交付环境</a:t>
            </a:r>
            <a:endParaRPr lang="en-US" sz="1200" dirty="0">
              <a:solidFill>
                <a:srgbClr val="5D6D7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数据一键迁移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.env 配置管理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3" name="Text 1"/>
          <p:cNvSpPr/>
          <p:nvPr/>
        </p:nvSpPr>
        <p:spPr>
          <a:xfrm>
            <a:off x="548640" y="10972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 总结与展望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94944"/>
            <a:ext cx="914400" cy="36576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5" name="Text 3"/>
          <p:cNvSpPr/>
          <p:nvPr/>
        </p:nvSpPr>
        <p:spPr>
          <a:xfrm>
            <a:off x="7772400" y="48920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已完成工作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457200" cy="27432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8" name="Text 6"/>
          <p:cNvSpPr/>
          <p:nvPr/>
        </p:nvSpPr>
        <p:spPr>
          <a:xfrm>
            <a:off x="731520" y="1417320"/>
            <a:ext cx="5093970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数仓分层架构：ODS → DWD → DWS → ADS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4389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ETL 数据流水线：全量 + 增量同步，自动化调度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057400"/>
            <a:ext cx="4389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BI 可视化：自研前端 + Metabase +</a:t>
            </a:r>
            <a:r>
              <a:rPr lang="zh-CN" alt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第三方</a:t>
            </a:r>
            <a:r>
              <a:rPr lang="en-US" altLang="zh-CN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BI</a:t>
            </a:r>
            <a:r>
              <a:rPr lang="zh-CN" alt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产品集成</a:t>
            </a:r>
            <a:r>
              <a:rPr lang="zh-CN" alt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</a:t>
            </a:r>
            <a:endParaRPr lang="zh-CN" altLang="en-US" sz="1200" dirty="0">
              <a:solidFill>
                <a:srgbClr val="2C3E5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6053455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AI 智能问数：</a:t>
            </a:r>
            <a:r>
              <a:rPr lang="zh-CN" alt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自然语言向量相似度</a:t>
            </a:r>
            <a:r>
              <a:rPr lang="en-US" altLang="zh-CN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r>
              <a:rPr lang="en-US" altLang="zh-CN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SQL+</a:t>
            </a: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标准库命中 + AI 语义生成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697480"/>
            <a:ext cx="5098415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Token 节省 80%（Schema 精简 +MPP</a:t>
            </a:r>
            <a:r>
              <a:rPr lang="zh-CN" alt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数仓</a:t>
            </a: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 标准库</a:t>
            </a:r>
            <a:r>
              <a:rPr lang="zh-CN" alt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</a:t>
            </a: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重优化）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017520"/>
            <a:ext cx="4389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Docker 容器化：5 个服务一键</a:t>
            </a:r>
            <a:r>
              <a:rPr lang="zh-CN" alt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云端及本地</a:t>
            </a: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</a:t>
            </a:r>
            <a:endParaRPr lang="zh-CN" altLang="en-US" sz="1200" dirty="0">
              <a:solidFill>
                <a:srgbClr val="2C3E5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338328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后续优化方向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457200" cy="27432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16" name="Text 14"/>
          <p:cNvSpPr/>
          <p:nvPr/>
        </p:nvSpPr>
        <p:spPr>
          <a:xfrm>
            <a:off x="741045" y="3840480"/>
            <a:ext cx="517779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◦  与</a:t>
            </a:r>
            <a:r>
              <a:rPr lang="zh-CN" alt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其他行业</a:t>
            </a: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ERP OA</a:t>
            </a:r>
            <a:r>
              <a:rPr lang="zh-CN" alt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等业务</a:t>
            </a: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系统集成</a:t>
            </a:r>
            <a:r>
              <a:rPr lang="zh-CN" alt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，目前已有教育行业</a:t>
            </a:r>
            <a:r>
              <a:rPr lang="zh-CN" alt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启动项目立项。</a:t>
            </a:r>
            <a:endParaRPr lang="zh-CN" altLang="en-US" sz="1200" dirty="0">
              <a:solidFill>
                <a:srgbClr val="5D6D7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4114800"/>
            <a:ext cx="4114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◦  移动端 BI 应用开发</a:t>
            </a:r>
            <a:r>
              <a:rPr lang="zh-CN" alt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</a:t>
            </a:r>
            <a:r>
              <a:rPr lang="en-US" altLang="zh-CN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RAG</a:t>
            </a:r>
            <a:r>
              <a:rPr lang="zh-CN" alt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知识库与</a:t>
            </a:r>
            <a:r>
              <a:rPr lang="en-US" altLang="zh-CN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</a:t>
            </a:r>
            <a:r>
              <a:rPr lang="zh-CN" alt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报表</a:t>
            </a:r>
            <a:r>
              <a:rPr lang="zh-CN" alt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融合。</a:t>
            </a:r>
            <a:endParaRPr lang="zh-CN" altLang="en-US" sz="1200" dirty="0">
              <a:solidFill>
                <a:srgbClr val="5D6D7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1520" y="4389120"/>
            <a:ext cx="4114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◦  实时数据处理（Kafka / Flink）</a:t>
            </a:r>
            <a:r>
              <a:rPr lang="zh-CN" alt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</a:t>
            </a:r>
            <a:r>
              <a:rPr lang="en-US" altLang="zh-CN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MPP</a:t>
            </a:r>
            <a:r>
              <a:rPr lang="zh-CN" alt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数仓数据库</a:t>
            </a:r>
            <a:r>
              <a:rPr lang="zh-CN" alt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迁移。</a:t>
            </a:r>
            <a:endParaRPr lang="zh-CN" altLang="en-US" sz="1200" dirty="0">
              <a:solidFill>
                <a:srgbClr val="5D6D7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31520" y="4663440"/>
            <a:ext cx="605409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◦  </a:t>
            </a:r>
            <a:r>
              <a:rPr lang="zh-CN" alt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启用</a:t>
            </a: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多租户Saas</a:t>
            </a:r>
            <a:r>
              <a:rPr lang="zh-CN" alt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模式，</a:t>
            </a: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支持与细粒度权限控制</a:t>
            </a:r>
            <a:r>
              <a:rPr lang="zh-CN" alt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，云端提供服务，数据储存</a:t>
            </a:r>
            <a:r>
              <a:rPr lang="zh-CN" alt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</a:t>
            </a:r>
            <a:endParaRPr lang="zh-CN" altLang="en-US" sz="1200" dirty="0">
              <a:solidFill>
                <a:srgbClr val="5D6D7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120640" y="109728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项目成一览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3" name="Text 1"/>
          <p:cNvSpPr/>
          <p:nvPr/>
        </p:nvSpPr>
        <p:spPr>
          <a:xfrm>
            <a:off x="0" y="1371600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致  谢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3931920" y="2286000"/>
            <a:ext cx="1280160" cy="4572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5" name="Text 3"/>
          <p:cNvSpPr/>
          <p:nvPr/>
        </p:nvSpPr>
        <p:spPr>
          <a:xfrm>
            <a:off x="0" y="2560320"/>
            <a:ext cx="91440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000" dirty="0">
                <a:solidFill>
                  <a:srgbClr val="BDC3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感谢导师的悉心指导</a:t>
            </a:r>
            <a:endParaRPr lang="en-US" sz="20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000" dirty="0">
                <a:solidFill>
                  <a:srgbClr val="BDC3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感谢评委老师的聆听</a:t>
            </a:r>
            <a:endParaRPr lang="en-US" sz="20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000" dirty="0">
                <a:solidFill>
                  <a:srgbClr val="BDC3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敬请批评指正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7" name="Text 5"/>
          <p:cNvSpPr/>
          <p:nvPr/>
        </p:nvSpPr>
        <p:spPr>
          <a:xfrm>
            <a:off x="3200400" y="416052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 &amp; 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0" y="46177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5A5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欢迎提问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5074920"/>
            <a:ext cx="9144000" cy="45720"/>
          </a:xfrm>
          <a:prstGeom prst="rect">
            <a:avLst/>
          </a:prstGeom>
          <a:solidFill>
            <a:srgbClr val="2980B9"/>
          </a:solidFill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13*130"/>
  <p:tag name="TABLE_ENDDRAG_RECT" val="36*79*513*13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3548</Words>
  <Application>WPS 演示</Application>
  <PresentationFormat>On-screen Show (16:9)</PresentationFormat>
  <Paragraphs>668</Paragraphs>
  <Slides>14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Consolas</vt:lpstr>
      <vt:lpstr>Consolas</vt:lpstr>
      <vt:lpstr>Consolas</vt:lpstr>
      <vt:lpstr>Calibri</vt:lpstr>
      <vt:lpstr>Helvetica Neue</vt:lpstr>
      <vt:lpstr>宋体</vt:lpstr>
      <vt:lpstr>Arial Unicode MS</vt:lpstr>
      <vt:lpstr>等线</vt:lpstr>
      <vt:lpstr>汉仪中等线KW</vt:lpstr>
      <vt:lpstr>汉仪书宋二KW</vt:lpstr>
      <vt:lpstr>苹方-简</vt:lpstr>
      <vt:lpstr>Apple Color Emoji</vt:lpstr>
      <vt:lpstr>儷宋 Pro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基于ERP系统的商业智能报表的设计与实现</dc:title>
  <dc:creator>Huang Qiang</dc:creator>
  <dc:subject>PptxGenJS Presentation</dc:subject>
  <cp:lastModifiedBy>黄强</cp:lastModifiedBy>
  <cp:revision>7</cp:revision>
  <dcterms:created xsi:type="dcterms:W3CDTF">2026-05-11T10:16:42Z</dcterms:created>
  <dcterms:modified xsi:type="dcterms:W3CDTF">2026-05-11T10:16:42Z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ICV">
    <vt:lpwstr>D3CC044BDEEE55530A7C016A72DDC2EB_42</vt:lpwstr>
  </property>
</Properties>
</file>