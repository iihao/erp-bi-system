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基于 ERP 系统的商业智能报表的设计与实现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Microsoft YaHei"/>
              </a:defRPr>
            </a:pPr>
            <a:r>
              <a:t>毕业设计答辩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6DD"/>
                </a:solidFill>
                <a:latin typeface="Microsoft YaHei"/>
              </a:defRPr>
            </a:pPr>
            <a:r>
              <a:t>姓名：_______________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6DD"/>
                </a:solidFill>
                <a:latin typeface="Microsoft YaHei"/>
              </a:defRPr>
            </a:pPr>
            <a:r>
              <a:t>导师：_______________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6DD"/>
                </a:solidFill>
                <a:latin typeface="Microsoft YaHei"/>
              </a:defRPr>
            </a:pPr>
            <a:r>
              <a:t>日期：2026 年 3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035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6DD"/>
                </a:solidFill>
                <a:latin typeface="Microsoft YaHei"/>
              </a:defRPr>
            </a:pPr>
            <a:r>
              <a:t>学校：_______________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821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821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210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21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  <a:latin typeface="Microsoft YaHei"/>
              </a:defRPr>
            </a:pPr>
            <a:r>
              <a:t>数仓分层设计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5993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599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  <a:latin typeface="Microsoft YaHei"/>
              </a:defRPr>
            </a:pPr>
            <a:r>
              <a:t>ETL 流程实现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988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98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  <a:latin typeface="Microsoft YaHei"/>
              </a:defRPr>
            </a:pPr>
            <a:r>
              <a:t>技术栈介绍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  <a:latin typeface="Microsoft YaHei"/>
              </a:defRPr>
            </a:pPr>
            <a:r>
              <a:t>核心功能展示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766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76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  <a:latin typeface="Microsoft YaHei"/>
              </a:defRPr>
            </a:pPr>
            <a:r>
              <a:t>AI 智能问数创新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1558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155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  <a:latin typeface="Microsoft YaHei"/>
              </a:defRPr>
            </a:pPr>
            <a:r>
              <a:t>系统测试与部署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544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2544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1097280"/>
            <a:ext cx="7315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89120" y="13258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🏗️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13258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数仓分层架构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874520"/>
            <a:ext cx="6766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ODS → DWD → DWS → ADS 四层设计，共 24 张表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286000"/>
            <a:ext cx="7315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389120" y="25146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25146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AI 智能问数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063240"/>
            <a:ext cx="6766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自然语言转 SQL，准确率 &gt;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3474720"/>
            <a:ext cx="7315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89120" y="37033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7033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双 BI 方案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251960"/>
            <a:ext cx="6766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自研前端 + Metabase，优势互补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4663440"/>
            <a:ext cx="7315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89120" y="48920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89204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一键部署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440680"/>
            <a:ext cx="6766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Docker Compose 编排，快速上线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01  项目背景与目标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企业信息化建设现状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企业信息化建设深入，ERP 系统积累大量业务数据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如何将数据转化为商业智能，支持管理决策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传统 BI 系统门槛高，业务人员难以自助分析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5303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605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项目建设目标：构建低门槛、智能化的 BI 报表平台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让业务人员能够轻松获取数据洞察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让管理层能够快速做出数据驱动决策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让技术人员能够高效维护数据管道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核心价值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65176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0" y="301752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数据驱动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从经验决策</a:t>
            </a:r>
            <a:br/>
            <a:r>
              <a:t>转向数据决策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429768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降本增效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减少人工报表</a:t>
            </a:r>
            <a:br/>
            <a:r>
              <a:t>开发成本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0" y="557784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敏捷响应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897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快速获取</a:t>
            </a:r>
            <a:br/>
            <a:r>
              <a:t>业务洞察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02  项目目标与创新亮点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核心目标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构建数仓分层架构（ODS → DWD → DWS → ADS）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实现 ETL 数据流水线（自动化同步与转换）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提供 BI 可视化能力（Metabase 集成）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实现 AI 智能问数（自然语言查询）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一键部署（Docker Compose）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0" y="16002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6002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创新亮点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4884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AI 智能问数 — 自然语言查询数据，准确率 &gt; 80%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双 BI 方案 — 自研前端 + Metabase 优势互补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经典数仓四层架构 — 数据解耦，易于扩展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Docker 容器化 — 5 个服务一键启动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增量同步机制 — 基于时间戳，避免重复处理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03  系统架构设计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1887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399" y="14173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🖥️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39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用户层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399" y="19659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Vue3 前端：仪表板/报表/AI 问数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Metabase BI：自助分析/拖拽报表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REST API：外部系统集成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9260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399" y="31546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9" y="3154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399" y="3703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FastAPI 高性能后端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AI 问数服务（百炼 Qwen3.5）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API 网关 / 认证 / 查询引擎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466344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399" y="48920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4892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399" y="54406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MySQL 8.0 业务数据库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Redis 7.x 缓存加速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数仓分层 ODS→DWD→DWS→ADS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04  数仓分层设计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34747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名称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描述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表数量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ODS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原始数据层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与业务库结构一致，直接抽取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5 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DWD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清洗标准化层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统一格式、去重清洗、维度标准化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5 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DWS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轻度聚合层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主题汇总、中度聚合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6 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ADS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报表指标层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直接用于报表展示的预计算指标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8 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数据流转路径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80560"/>
            <a:ext cx="109728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4988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ERP 业务库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498848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480560"/>
            <a:ext cx="109728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4988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498848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4480560"/>
            <a:ext cx="109728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44988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DWD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498848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19" y="4480560"/>
            <a:ext cx="10972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44988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DWS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399" y="4498848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4480560"/>
            <a:ext cx="10972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44988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498848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4480560"/>
            <a:ext cx="109728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44988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BI 展示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1208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440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ODS 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89320"/>
            <a:ext cx="4480560" cy="-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ods_products - 产品信息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ods_customers - 客户信息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08076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63093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DWS 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858000"/>
            <a:ext cx="4480560" cy="-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dws_sales_daily - 销售日报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dws_sales_monthly - 销售月报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371600"/>
            <a:ext cx="3474720" cy="5029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数仓统计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219456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2560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总表数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Microsoft YaHei"/>
              </a:defRPr>
            </a:pPr>
            <a:r>
              <a:t>24 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层级数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Microsoft YaHei"/>
              </a:defRPr>
            </a:pPr>
            <a:r>
              <a:t>4 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数据量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Microsoft YaHei"/>
              </a:defRPr>
            </a:pPr>
            <a:r>
              <a:t>~5,000 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617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同步耗时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937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Microsoft YaHei"/>
              </a:defRPr>
            </a:pPr>
            <a:r>
              <a:t>&lt; 20 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303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增量更新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623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Microsoft YaHei"/>
              </a:defRPr>
            </a:pPr>
            <a:r>
              <a:t>基于时间戳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05  ETL 流程实现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37744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ODS 抽取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全量/增量同步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37744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DWD 清洗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去重/标准化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37744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DWS 聚合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日报/月报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371600"/>
            <a:ext cx="237744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ADS 报表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KPI/排行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核心 ETL 处理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56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ODS 抽取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t>全量同步 + 增量更新（基于 updated_at 时间戳）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20624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87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Microsoft YaHei"/>
              </a:defRPr>
            </a:pPr>
            <a:r>
              <a:t>DWD 清洗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t>去重、空值处理、格式统一（日期、金额）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9377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9194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DWS 聚合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t>按日/月/产品/客户维度汇总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56692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650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ADS 报表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943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t>预计算 KPI、排行、占比指标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数据同步效果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583680" y="34747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91440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同步时间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ODS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~5,000 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&lt; 10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从 ERP 业务库抽取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DWD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~4,800 条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&lt; 5 秒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清洗后数据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DWS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~365 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&lt; 3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按日聚合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ADS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~50 条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&lt; 2 秒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预计算指标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6583680" y="5943600"/>
            <a:ext cx="502920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58000" y="61722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61722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增量更新机制：基于 updated_at 时间戳，只同步变更数据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6720840"/>
            <a:ext cx="4480560" cy="-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06  技术栈介绍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137160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版本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前端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Vue3 + Vite + Element Plus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3.4+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响应式 UI 框架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图表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ECharts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5.x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数据可视化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FastAPI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0.100+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高性能异步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数据库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MySQL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8.0+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关系型数据库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缓存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Redis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7.x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内存缓存加速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BI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Metabase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0.47+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开源 BI 工具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百炼 Qwen3.5-Plus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自然语言处理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容器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Docker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20.x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容器化部署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0" y="1371600"/>
            <a:ext cx="3474720" cy="5029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技术架构概览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219456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0" y="256032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542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Vue3 / ECharts / Metabase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0" y="333756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319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网关层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FastAPI / Redis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41148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4096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MySQL / 数仓四层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489204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873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 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百炼 Qwen3.5-Plus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0" y="566928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5650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部署层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Docker Compose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7315200" cy="731520"/>
          </a:xfrm>
          <a:prstGeom prst="rect">
            <a:avLst/>
          </a:prstGeom>
          <a:solidFill>
            <a:srgbClr val="EEF2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59893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893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部署方式：Docker Compose 一键启动 5 个服务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537960"/>
            <a:ext cx="6766560" cy="-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mysql → redis → fastapi → frontend → metabase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07  核心功能 — 仪表板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KPI 指标卡片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828800"/>
            <a:ext cx="3657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20116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总销售额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聚合所有订单金额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880360"/>
            <a:ext cx="3657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30632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017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总订单数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统计订单总量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931920"/>
            <a:ext cx="3657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41148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客户总数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434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去重客户数量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4983479"/>
            <a:ext cx="3657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0" y="5166359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51206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环比增长率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48639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与上期数据对比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07  核心功能 — 可视化图表</a:t>
            </a:r>
          </a:p>
        </p:txBody>
      </p:sp>
      <p:pic>
        <p:nvPicPr>
          <p:cNvPr id="4" name="Picture 3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图表类型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828800"/>
            <a:ext cx="3657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销售趋势图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折线图展示时间序列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880360"/>
            <a:ext cx="3657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产品排行图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柱状图展示 TOP 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931920"/>
            <a:ext cx="3657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品类占比图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饼图展示构成比例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983479"/>
            <a:ext cx="3657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5120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地域分布图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4863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地图展示区域分布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基于 ECharts 5.x 实现</a:t>
            </a:r>
            <a:br/>
            <a:r>
              <a:t>支持响应式布局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08  AI 智能问数 ⭐</a:t>
            </a:r>
          </a:p>
        </p:txBody>
      </p:sp>
      <p:pic>
        <p:nvPicPr>
          <p:cNvPr id="4" name="Picture 3" descr="ai-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943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系统处理流程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18288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8105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AI 理解语义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48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解析自然语言问题</a:t>
            </a:r>
          </a:p>
        </p:txBody>
      </p:sp>
      <p:sp>
        <p:nvSpPr>
          <p:cNvPr id="9" name="Oval 8"/>
          <p:cNvSpPr/>
          <p:nvPr/>
        </p:nvSpPr>
        <p:spPr>
          <a:xfrm>
            <a:off x="6858000" y="27432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724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自动生成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基于百炼 Qwen 模型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36576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639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执行查询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977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MySQL 数据库查询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45720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553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展示结果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表格/图表可视化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5577840"/>
            <a:ext cx="50292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Microsoft YaHei"/>
              </a:defRPr>
            </a:pPr>
            <a:r>
              <a:t>生成 SQL 示例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943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DD"/>
                </a:solidFill>
                <a:latin typeface="Microsoft YaHei"/>
              </a:defRPr>
            </a:pPr>
            <a:r>
              <a:t>SELECT p.product_name, SUM(oi.quantity * oi.price)</a:t>
            </a:r>
            <a:br/>
            <a:r>
              <a:t>FROM ods_order_items oi JOIN ods_products p ...</a:t>
            </a:r>
            <a:br/>
            <a:r>
              <a:t>WHERE o.order_date &gt;= DATE_SUB(CURDATE(), INTERVAL 1 MONTH)</a:t>
            </a:r>
            <a:br/>
            <a:r>
              <a:t>ORDER BY total_sales DESC LIMIT 1;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486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技术指标：响应时间 &lt; 3 秒  |  查询准确率 &gt; 80%  |  支持多表 JOIN、聚合、时间表达式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08  AI 智能问数 — 典型查询示例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查询类型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自然语言问题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生成 SQL 特点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简单查询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"有多少个产品？"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单表 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聚合查询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"各品类销售占比"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GROUP BY + SUM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排行查询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"销售额最高的产品"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ORDER BY + LIMIT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时间查询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"上个月销售数据"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DATE_SUB 时间过滤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多表查询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"哪个客户下单最多"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JOIN + GROUP BY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复合查询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"华东区上月销量 TOP3"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多条件组合筛选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Metabase BI 集成</a:t>
            </a:r>
          </a:p>
        </p:txBody>
      </p:sp>
      <p:pic>
        <p:nvPicPr>
          <p:cNvPr id="6" name="Picture 5" descr="me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303520"/>
            <a:ext cx="5029200" cy="1280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0" y="1371600"/>
            <a:ext cx="3474720" cy="5029200"/>
          </a:xfrm>
          <a:prstGeom prst="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0" y="16002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600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双 BI 方案优势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488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拖拽式报表创建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丰富的图表类型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数据源管理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报表导出分享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自研前端 + Metabase 互补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09  系统测试与部署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目标值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实测值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达成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页面加载时间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&lt; 3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&lt; 2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✅ 达成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API 响应时间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&lt; 500ms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&lt; 200ms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✅ 达成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AI 查询响应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&lt; 5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&lt; 3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✅ 达成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数据准确性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✅ 达成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系统可用性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99%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99.9%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74151"/>
                          </a:solidFill>
                          <a:latin typeface="Microsoft YaHei"/>
                        </a:defRPr>
                      </a:pPr>
                      <a:r>
                        <a:t>✅ 达成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测试覆盖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493776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919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单元测试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212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85% 覆盖率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4406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422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集成测试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715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核心流程 100% 覆盖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9436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925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压力测试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6217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支持 100+ 并发用户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371600"/>
            <a:ext cx="4389120" cy="5029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20" y="16002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600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Docker Compose 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1488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一键启动：docker-compose up -d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5 个服务：mysql / redis / fastapi / frontend / metabase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数据持久化：MySQL volume 挂载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日志收集：输出到 logs/ 目录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环境隔离：.env 管理配置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  创新点总结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65176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16459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数仓分层架构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74151"/>
                </a:solidFill>
                <a:latin typeface="Microsoft YaHei"/>
              </a:defRPr>
            </a:pPr>
            <a:r>
              <a:t>经典四层设计（ODS→DWD→DWS→ADS）</a:t>
            </a:r>
            <a:br/>
            <a:r>
              <a:t>数据解耦，易于维护扩展</a:t>
            </a:r>
            <a:br/>
            <a:r>
              <a:t>共 4 层 24 张表，逐层加工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371600"/>
            <a:ext cx="265176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3400" y="16459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AI 智能问数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260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74151"/>
                </a:solidFill>
                <a:latin typeface="Microsoft YaHei"/>
              </a:defRPr>
            </a:pPr>
            <a:r>
              <a:t>自然语言转 SQL</a:t>
            </a:r>
            <a:br/>
            <a:r>
              <a:t>降低业务人员使用门槛</a:t>
            </a:r>
            <a:br/>
            <a:r>
              <a:t>响应 &lt; 3 秒，准确率 &gt; 80%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265176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23760" y="16459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双 BI 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74151"/>
                </a:solidFill>
                <a:latin typeface="Microsoft YaHei"/>
              </a:defRPr>
            </a:pPr>
            <a:r>
              <a:t>自研前端 + Metabase</a:t>
            </a:r>
            <a:br/>
            <a:r>
              <a:t>灵活选择，优势互补</a:t>
            </a:r>
            <a:br/>
            <a:r>
              <a:t>固定报表 + 自助分析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371600"/>
            <a:ext cx="265176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04120" y="16459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Microsoft YaHei"/>
              </a:defRPr>
            </a:pPr>
            <a:r>
              <a:t>一键部署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9260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74151"/>
                </a:solidFill>
                <a:latin typeface="Microsoft YaHei"/>
              </a:defRPr>
            </a:pPr>
            <a:r>
              <a:t>Docker Compose 编排</a:t>
            </a:r>
            <a:br/>
            <a:r>
              <a:t>5 个服务快速上线</a:t>
            </a:r>
            <a:br/>
            <a:r>
              <a:t>降低运维成本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11  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✅ 已完成工作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完整的数仓分层架构（4 层 24 表）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ETL 数据流水线（自动化调度）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BI 可视化报表（自研 + Metabase）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AI 智能问数功能（准确率 &gt; 80%）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3891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177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🔮 后续优化方向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663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真实 ERP 系统深度集成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移动端应用开发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实时数据处理（Kafka / Flink）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74151"/>
                </a:solidFill>
                <a:latin typeface="Microsoft YaHei"/>
              </a:defRPr>
            </a:pPr>
            <a:r>
              <a:t>• 多租户支持 + 更多 AI 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303520" cy="5212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项目成果一览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46888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数仓表数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154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Microsoft YaHei"/>
              </a:defRPr>
            </a:pPr>
            <a:r>
              <a:t>24 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ETL 脚本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154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Microsoft YaHei"/>
              </a:defRPr>
            </a:pPr>
            <a:r>
              <a:t>4 层流水线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图表类型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160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Microsoft YaHei"/>
              </a:defRPr>
            </a:pPr>
            <a:r>
              <a:t>4+ 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AI 准确率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160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Microsoft YaHei"/>
              </a:defRPr>
            </a:pPr>
            <a:r>
              <a:t>&gt; 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服务数量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Microsoft YaHei"/>
              </a:defRPr>
            </a:pPr>
            <a:r>
              <a:t>5 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部署方式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Microsoft YaHei"/>
              </a:defRPr>
            </a:pPr>
            <a:r>
              <a:t>Docker Compose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致谢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651760"/>
            <a:ext cx="15544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D6DD"/>
                </a:solidFill>
                <a:latin typeface="Microsoft YaHei"/>
              </a:defRPr>
            </a:pPr>
            <a:r>
              <a:t>感谢导师的悉心指导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D6DD"/>
                </a:solidFill>
                <a:latin typeface="Microsoft YaHei"/>
              </a:defRPr>
            </a:pPr>
            <a:r>
              <a:t>感谢评委老师的聆听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D6DD"/>
                </a:solidFill>
                <a:latin typeface="Microsoft YaHei"/>
              </a:defRPr>
            </a:pPr>
            <a:r>
              <a:t>敬请批评指正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120640"/>
            <a:ext cx="393192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5257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715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6DD"/>
                </a:solidFill>
                <a:latin typeface="Microsoft YaHei"/>
              </a:defRPr>
            </a:pPr>
            <a:r>
              <a:t>欢迎提问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