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9" r:id="rId13"/>
    <p:sldId id="265" r:id="rId14"/>
    <p:sldId id="266" r:id="rId15"/>
    <p:sldId id="267" r:id="rId16"/>
    <p:sldId id="268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0" y="91440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毕业设计答辩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141732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ERP 系统的商业智能报表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210312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98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的设计与实现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0" y="2926080"/>
            <a:ext cx="18288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7" name="Text 5"/>
          <p:cNvSpPr/>
          <p:nvPr/>
        </p:nvSpPr>
        <p:spPr>
          <a:xfrm>
            <a:off x="0" y="3200400"/>
            <a:ext cx="91440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5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姓  名：_____________</a:t>
            </a:r>
            <a:endParaRPr lang="en-US" sz="15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5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  师：_____________</a:t>
            </a:r>
            <a:endParaRPr lang="en-US" sz="15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5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  校：_____________</a:t>
            </a:r>
            <a:endParaRPr lang="en-US" sz="15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5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  期：2026 年 3 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45720"/>
          </a:xfrm>
          <a:prstGeom prst="rect">
            <a:avLst/>
          </a:prstGeom>
          <a:solidFill>
            <a:srgbClr val="2980B9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目  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170432"/>
            <a:ext cx="411480" cy="41148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7" name="Text 5"/>
          <p:cNvSpPr/>
          <p:nvPr/>
        </p:nvSpPr>
        <p:spPr>
          <a:xfrm>
            <a:off x="731520" y="1170432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115568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项目背景与目标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1389888"/>
            <a:ext cx="4572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研究背景、建设目标、核心价值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810512"/>
            <a:ext cx="5029200" cy="9144"/>
          </a:xfrm>
          <a:prstGeom prst="rect">
            <a:avLst/>
          </a:prstGeom>
          <a:solidFill>
            <a:srgbClr val="D5D8DC"/>
          </a:solidFill>
        </p:spPr>
      </p:sp>
      <p:sp>
        <p:nvSpPr>
          <p:cNvPr id="11" name="Shape 9"/>
          <p:cNvSpPr/>
          <p:nvPr/>
        </p:nvSpPr>
        <p:spPr>
          <a:xfrm>
            <a:off x="731520" y="1947672"/>
            <a:ext cx="411480" cy="411480"/>
          </a:xfrm>
          <a:prstGeom prst="rect">
            <a:avLst/>
          </a:prstGeom>
          <a:solidFill>
            <a:srgbClr val="2980B9"/>
          </a:solidFill>
        </p:spPr>
      </p:sp>
      <p:sp>
        <p:nvSpPr>
          <p:cNvPr id="12" name="Text 10"/>
          <p:cNvSpPr/>
          <p:nvPr/>
        </p:nvSpPr>
        <p:spPr>
          <a:xfrm>
            <a:off x="731520" y="1947672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1892808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系统架构与数仓设计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2167128"/>
            <a:ext cx="4572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三层架构、ODS→ADS 四层数仓、24 张分析表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587752"/>
            <a:ext cx="5029200" cy="9144"/>
          </a:xfrm>
          <a:prstGeom prst="rect">
            <a:avLst/>
          </a:prstGeom>
          <a:solidFill>
            <a:srgbClr val="D5D8DC"/>
          </a:solidFill>
        </p:spPr>
      </p:sp>
      <p:sp>
        <p:nvSpPr>
          <p:cNvPr id="16" name="Shape 14"/>
          <p:cNvSpPr/>
          <p:nvPr/>
        </p:nvSpPr>
        <p:spPr>
          <a:xfrm>
            <a:off x="731520" y="2724912"/>
            <a:ext cx="411480" cy="41148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7" name="Text 15"/>
          <p:cNvSpPr/>
          <p:nvPr/>
        </p:nvSpPr>
        <p:spPr>
          <a:xfrm>
            <a:off x="731520" y="2724912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2670048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系统实现与核心功能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2944368"/>
            <a:ext cx="4572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ETL 流程、技术栈、仪表板与可视化图表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364992"/>
            <a:ext cx="5029200" cy="9144"/>
          </a:xfrm>
          <a:prstGeom prst="rect">
            <a:avLst/>
          </a:prstGeom>
          <a:solidFill>
            <a:srgbClr val="D5D8DC"/>
          </a:solidFill>
        </p:spPr>
      </p:sp>
      <p:sp>
        <p:nvSpPr>
          <p:cNvPr id="21" name="Shape 19"/>
          <p:cNvSpPr/>
          <p:nvPr/>
        </p:nvSpPr>
        <p:spPr>
          <a:xfrm>
            <a:off x="731520" y="3502152"/>
            <a:ext cx="411480" cy="411480"/>
          </a:xfrm>
          <a:prstGeom prst="rect">
            <a:avLst/>
          </a:prstGeom>
          <a:solidFill>
            <a:srgbClr val="8E44AD"/>
          </a:solidFill>
        </p:spPr>
      </p:sp>
      <p:sp>
        <p:nvSpPr>
          <p:cNvPr id="22" name="Text 20"/>
          <p:cNvSpPr/>
          <p:nvPr/>
        </p:nvSpPr>
        <p:spPr>
          <a:xfrm>
            <a:off x="731520" y="3502152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447288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智能问数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25880" y="3721608"/>
            <a:ext cx="4572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处理流程、标准库命中逻辑、Token 优化 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142232"/>
            <a:ext cx="5029200" cy="9144"/>
          </a:xfrm>
          <a:prstGeom prst="rect">
            <a:avLst/>
          </a:prstGeom>
          <a:solidFill>
            <a:srgbClr val="D5D8DC"/>
          </a:solidFill>
        </p:spPr>
      </p:sp>
      <p:sp>
        <p:nvSpPr>
          <p:cNvPr id="26" name="Shape 24"/>
          <p:cNvSpPr/>
          <p:nvPr/>
        </p:nvSpPr>
        <p:spPr>
          <a:xfrm>
            <a:off x="731520" y="4279392"/>
            <a:ext cx="411480" cy="41148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27" name="Text 25"/>
          <p:cNvSpPr/>
          <p:nvPr/>
        </p:nvSpPr>
        <p:spPr>
          <a:xfrm>
            <a:off x="731520" y="4279392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4224528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测试部署与总结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325880" y="4498848"/>
            <a:ext cx="4572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性能测试、Docker 部署、项目成果与展望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1097280"/>
            <a:ext cx="2743200" cy="365760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31" name="Text 29"/>
          <p:cNvSpPr/>
          <p:nvPr/>
        </p:nvSpPr>
        <p:spPr>
          <a:xfrm>
            <a:off x="5943600" y="11887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项目亮点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58000" y="1554480"/>
            <a:ext cx="914400" cy="2743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3" name="Shape 31"/>
          <p:cNvSpPr/>
          <p:nvPr/>
        </p:nvSpPr>
        <p:spPr>
          <a:xfrm>
            <a:off x="6217920" y="1783080"/>
            <a:ext cx="64008" cy="64008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4" name="Text 32"/>
          <p:cNvSpPr/>
          <p:nvPr/>
        </p:nvSpPr>
        <p:spPr>
          <a:xfrm>
            <a:off x="6492240" y="17373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数仓四层架构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2221992"/>
            <a:ext cx="64008" cy="64008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6" name="Text 34"/>
          <p:cNvSpPr/>
          <p:nvPr/>
        </p:nvSpPr>
        <p:spPr>
          <a:xfrm>
            <a:off x="6492240" y="2176145"/>
            <a:ext cx="228282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智能问数</a:t>
            </a:r>
            <a:r>
              <a:rPr lang="zh-CN" alt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及报表</a:t>
            </a:r>
            <a:r>
              <a:rPr lang="zh-CN" alt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</a:t>
            </a:r>
            <a:endParaRPr lang="zh-CN" altLang="en-US" sz="1300" dirty="0">
              <a:solidFill>
                <a:srgbClr val="2C3E5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217920" y="2660904"/>
            <a:ext cx="64008" cy="64008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8" name="Text 36"/>
          <p:cNvSpPr/>
          <p:nvPr/>
        </p:nvSpPr>
        <p:spPr>
          <a:xfrm>
            <a:off x="6492240" y="2614930"/>
            <a:ext cx="242125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</a:t>
            </a:r>
            <a:r>
              <a:rPr lang="en-US" altLang="zh-CN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MPP</a:t>
            </a:r>
            <a:r>
              <a:rPr lang="zh-CN" alt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库查询效率提升</a:t>
            </a:r>
            <a:r>
              <a:rPr lang="en-US" altLang="zh-CN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90%</a:t>
            </a: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17920" y="3099816"/>
            <a:ext cx="64008" cy="64008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40" name="Text 38"/>
          <p:cNvSpPr/>
          <p:nvPr/>
        </p:nvSpPr>
        <p:spPr>
          <a:xfrm>
            <a:off x="6492240" y="3054350"/>
            <a:ext cx="250063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AI标准库命中</a:t>
            </a:r>
            <a:r>
              <a:rPr lang="zh-CN" alt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节省</a:t>
            </a:r>
            <a:r>
              <a:rPr lang="en-US" altLang="zh-CN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70%</a:t>
            </a:r>
            <a:r>
              <a:rPr lang="en-US" altLang="zh-CN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</a:t>
            </a:r>
            <a:endParaRPr lang="en-US" altLang="zh-CN" sz="1300" dirty="0">
              <a:solidFill>
                <a:srgbClr val="2C3E5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17920" y="3538728"/>
            <a:ext cx="64008" cy="64008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42" name="Text 40"/>
          <p:cNvSpPr/>
          <p:nvPr/>
        </p:nvSpPr>
        <p:spPr>
          <a:xfrm>
            <a:off x="6492240" y="3493135"/>
            <a:ext cx="242189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内置双</a:t>
            </a: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</a:t>
            </a:r>
            <a:r>
              <a:rPr lang="zh-CN" alt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及三方</a:t>
            </a:r>
            <a:r>
              <a:rPr lang="en-US" altLang="zh-CN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</a:t>
            </a:r>
            <a:r>
              <a:rPr lang="zh-CN" alt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对接</a:t>
            </a: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17920" y="3977640"/>
            <a:ext cx="64008" cy="64008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44" name="Text 42"/>
          <p:cNvSpPr/>
          <p:nvPr/>
        </p:nvSpPr>
        <p:spPr>
          <a:xfrm>
            <a:off x="6492240" y="39319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Docker 一键部署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项目背景与目标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背景与挑战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2743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8" name="Text 6"/>
          <p:cNvSpPr/>
          <p:nvPr/>
        </p:nvSpPr>
        <p:spPr>
          <a:xfrm>
            <a:off x="731520" y="1600200"/>
            <a:ext cx="34747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ERP 系统积累海量业务数据，但利用率低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 BI 工具门槛高，业务人员难以自助分析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数据分散在多个子系统，缺乏统一视图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管理决策依赖人工报表，响应周期长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1417320"/>
            <a:ext cx="457200" cy="2743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1" name="Text 9"/>
          <p:cNvSpPr/>
          <p:nvPr/>
        </p:nvSpPr>
        <p:spPr>
          <a:xfrm>
            <a:off x="5120640" y="1600200"/>
            <a:ext cx="34747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构建低门槛、智能化的 </a:t>
            </a: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AI+BI 报表平台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让业务人员轻松获取数据洞察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让管理层快速做出数据驱动决策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 AI + BI 的技术融合创新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8046720" cy="137160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13" name="Text 11"/>
          <p:cNvSpPr/>
          <p:nvPr/>
        </p:nvSpPr>
        <p:spPr>
          <a:xfrm>
            <a:off x="731520" y="37033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核心价值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274320" cy="27432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5" name="Text 13"/>
          <p:cNvSpPr/>
          <p:nvPr/>
        </p:nvSpPr>
        <p:spPr>
          <a:xfrm>
            <a:off x="731520" y="41605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4114800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数据驱动决策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38912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从经验决策转向数据决策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4160520"/>
            <a:ext cx="274320" cy="27432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9" name="Text 17"/>
          <p:cNvSpPr/>
          <p:nvPr/>
        </p:nvSpPr>
        <p:spPr>
          <a:xfrm>
            <a:off x="3291840" y="41605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4114800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降本增效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438912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减少人工报表开发成本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52160" y="4160520"/>
            <a:ext cx="274320" cy="27432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23" name="Text 21"/>
          <p:cNvSpPr/>
          <p:nvPr/>
        </p:nvSpPr>
        <p:spPr>
          <a:xfrm>
            <a:off x="5852160" y="41605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4114800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敏捷响应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438912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快速获取业务洞察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系统架构设计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tmp/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75488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12080" y="960120"/>
            <a:ext cx="33832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12080" y="960120"/>
            <a:ext cx="54864" cy="105156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9" name="Text 6"/>
          <p:cNvSpPr/>
          <p:nvPr/>
        </p:nvSpPr>
        <p:spPr>
          <a:xfrm>
            <a:off x="5394960" y="1014984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94960" y="128930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Vue3 前端：仪表板/AI 问数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94960" y="151790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Metabase BI：自助分析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94960" y="174650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REST API：外部集成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12080" y="2148840"/>
            <a:ext cx="33832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12080" y="2148840"/>
            <a:ext cx="54864" cy="1051560"/>
          </a:xfrm>
          <a:prstGeom prst="rect">
            <a:avLst/>
          </a:prstGeom>
          <a:solidFill>
            <a:srgbClr val="2980B9"/>
          </a:solidFill>
        </p:spPr>
      </p:sp>
      <p:sp>
        <p:nvSpPr>
          <p:cNvPr id="15" name="Text 12"/>
          <p:cNvSpPr/>
          <p:nvPr/>
        </p:nvSpPr>
        <p:spPr>
          <a:xfrm>
            <a:off x="5394960" y="2203704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94960" y="247802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FastAPI 高性能后端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0" y="270662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AI 问数服务 (百炼 Qwen)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394960" y="293522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认证服务 / 查询引擎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12080" y="3337560"/>
            <a:ext cx="33832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12080" y="3337560"/>
            <a:ext cx="54864" cy="105156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21" name="Text 18"/>
          <p:cNvSpPr/>
          <p:nvPr/>
        </p:nvSpPr>
        <p:spPr>
          <a:xfrm>
            <a:off x="5394960" y="3392424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394960" y="366674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MySQL 8.0 业务数据库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394960" y="389534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Redis 7.x 缓存加速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94960" y="412394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ODS→DWD→DWS→ADS 数仓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26" name="Text 23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三层解耦架构  |  AI + BI 融合  |  异步非阻塞处理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数仓分层设计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1005840"/>
          <a:ext cx="6619240" cy="1710690"/>
        </p:xfrm>
        <a:graphic>
          <a:graphicData uri="http://schemas.openxmlformats.org/drawingml/2006/table">
            <a:tbl>
              <a:tblPr/>
              <a:tblGrid>
                <a:gridCol w="814070"/>
                <a:gridCol w="1527810"/>
                <a:gridCol w="3054985"/>
                <a:gridCol w="1222375"/>
              </a:tblGrid>
              <a:tr h="3803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层级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全称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功能描述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表数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ODS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源数据层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原始数据，与业务库结构一致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表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DWD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明细层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清洗去重、格式标准化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表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DWS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汇总层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轻度聚合，按主题汇总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 表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ADS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应用层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预计算指标，直接报表展示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 表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834640"/>
            <a:ext cx="1005840" cy="3200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8" name="Text 5"/>
          <p:cNvSpPr/>
          <p:nvPr/>
        </p:nvSpPr>
        <p:spPr>
          <a:xfrm>
            <a:off x="457200" y="2834640"/>
            <a:ext cx="1005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63040" y="2834640"/>
            <a:ext cx="182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645920" y="2834640"/>
            <a:ext cx="1005840" cy="3200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1" name="Text 8"/>
          <p:cNvSpPr/>
          <p:nvPr/>
        </p:nvSpPr>
        <p:spPr>
          <a:xfrm>
            <a:off x="1645920" y="2834640"/>
            <a:ext cx="1005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ODS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651760" y="2834640"/>
            <a:ext cx="182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834640" y="2834640"/>
            <a:ext cx="1005840" cy="3200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4" name="Text 11"/>
          <p:cNvSpPr/>
          <p:nvPr/>
        </p:nvSpPr>
        <p:spPr>
          <a:xfrm>
            <a:off x="2834640" y="2834640"/>
            <a:ext cx="1005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DWD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840480" y="2834640"/>
            <a:ext cx="182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023360" y="2834640"/>
            <a:ext cx="1005840" cy="3200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7" name="Text 14"/>
          <p:cNvSpPr/>
          <p:nvPr/>
        </p:nvSpPr>
        <p:spPr>
          <a:xfrm>
            <a:off x="4023360" y="2834640"/>
            <a:ext cx="1005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DWS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0" y="2834640"/>
            <a:ext cx="182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12080" y="2834640"/>
            <a:ext cx="1005840" cy="3200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20" name="Text 17"/>
          <p:cNvSpPr/>
          <p:nvPr/>
        </p:nvSpPr>
        <p:spPr>
          <a:xfrm>
            <a:off x="5212080" y="2834640"/>
            <a:ext cx="1005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17920" y="2834640"/>
            <a:ext cx="182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00800" y="2834640"/>
            <a:ext cx="1005840" cy="320040"/>
          </a:xfrm>
          <a:prstGeom prst="rect">
            <a:avLst/>
          </a:prstGeom>
          <a:solidFill>
            <a:srgbClr val="1B4F72"/>
          </a:solidFill>
        </p:spPr>
        <p:txBody>
          <a:bodyPr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6400800" y="2834640"/>
            <a:ext cx="1005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675120" y="109728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数仓统计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675120" y="1554480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总表数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675120" y="175564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675120" y="2057400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总层级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675120" y="225856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675120" y="3493008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节省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675120" y="367588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30%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457200" y="3383280"/>
            <a:ext cx="5948045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ODS: products, orders, order_items, customers, suppliers  |  DWS: sales_daily, product_summary, customer_stats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57200" y="3977640"/>
            <a:ext cx="594360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0080" y="4023360"/>
            <a:ext cx="5669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数仓库表仅保留核心字段（~15 个），原始 ERP 表 50+ 字段，Schema 精简使 AI Prompt Token 消耗降低约 30%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ETL 流程与技术栈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828800" cy="73152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7" name="Text 5"/>
          <p:cNvSpPr/>
          <p:nvPr/>
        </p:nvSpPr>
        <p:spPr>
          <a:xfrm>
            <a:off x="457200" y="1024128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ODS 抽取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D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全量/增量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09728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60320" y="1005840"/>
            <a:ext cx="1828800" cy="731520"/>
          </a:xfrm>
          <a:prstGeom prst="rect">
            <a:avLst/>
          </a:prstGeom>
          <a:solidFill>
            <a:srgbClr val="2980B9"/>
          </a:solidFill>
        </p:spPr>
      </p:sp>
      <p:sp>
        <p:nvSpPr>
          <p:cNvPr id="11" name="Text 9"/>
          <p:cNvSpPr/>
          <p:nvPr/>
        </p:nvSpPr>
        <p:spPr>
          <a:xfrm>
            <a:off x="2560320" y="1024128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DWD 清洗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138988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D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去重标准化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109728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1828800" cy="73152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5" name="Text 13"/>
          <p:cNvSpPr/>
          <p:nvPr/>
        </p:nvSpPr>
        <p:spPr>
          <a:xfrm>
            <a:off x="4663440" y="1024128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DWS 聚合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138988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D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按主题汇总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109728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766560" y="1005840"/>
            <a:ext cx="1828800" cy="731520"/>
          </a:xfrm>
          <a:prstGeom prst="rect">
            <a:avLst/>
          </a:prstGeom>
          <a:solidFill>
            <a:srgbClr val="1A5276"/>
          </a:solidFill>
        </p:spPr>
      </p:sp>
      <p:sp>
        <p:nvSpPr>
          <p:cNvPr id="19" name="Text 17"/>
          <p:cNvSpPr/>
          <p:nvPr/>
        </p:nvSpPr>
        <p:spPr>
          <a:xfrm>
            <a:off x="6766560" y="1024128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ADS 报表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138988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D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预计算指标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19202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同步效果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457200" y="2286000"/>
          <a:ext cx="29260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09728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层级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数据量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耗时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ODS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~5,000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10s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DWD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~4,800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5s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DWS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~365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3s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~50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2s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3657600"/>
            <a:ext cx="2926080" cy="411480"/>
          </a:xfrm>
          <a:prstGeom prst="rect">
            <a:avLst/>
          </a:prstGeom>
          <a:solidFill>
            <a:srgbClr val="E8F8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7033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56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增量更新：基于 updated_at 时间戳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840480" y="19202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</a:t>
            </a:r>
            <a:endParaRPr lang="en-US" sz="1400" dirty="0"/>
          </a:p>
        </p:txBody>
      </p:sp>
      <p:graphicFrame>
        <p:nvGraphicFramePr>
          <p:cNvPr id="26" name="Table 1"/>
          <p:cNvGraphicFramePr>
            <a:graphicFrameLocks noGrp="1"/>
          </p:cNvGraphicFramePr>
          <p:nvPr/>
        </p:nvGraphicFramePr>
        <p:xfrm>
          <a:off x="3840480" y="2286000"/>
          <a:ext cx="4754880" cy="2758440"/>
        </p:xfrm>
        <a:graphic>
          <a:graphicData uri="http://schemas.openxmlformats.org/drawingml/2006/table">
            <a:tbl>
              <a:tblPr/>
              <a:tblGrid>
                <a:gridCol w="988695"/>
                <a:gridCol w="1571625"/>
                <a:gridCol w="21945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选型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用途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前端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Vue3 + Vite + Element Plus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 框架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图表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ECharts 5.x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数据可视化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后端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FastAPI (Python)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高性能 API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zh-CN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数仓</a:t>
                      </a:r>
                      <a:endParaRPr lang="zh-CN" alt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verdica clickhouse</a:t>
                      </a:r>
                      <a:endParaRPr lang="en-US" alt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MPP</a:t>
                      </a:r>
                      <a:r>
                        <a:rPr lang="zh-CN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高速数仓</a:t>
                      </a:r>
                      <a:r>
                        <a:rPr lang="zh-CN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库</a:t>
                      </a:r>
                      <a:endParaRPr lang="zh-CN" alt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业务</a:t>
                      </a: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数据库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MySQL 8.0</a:t>
                      </a:r>
                      <a:r>
                        <a:rPr lang="zh-CN" alt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，</a:t>
                      </a:r>
                      <a:r>
                        <a:rPr lang="en-US" altLang="zh-CN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sqlite</a:t>
                      </a:r>
                      <a:endParaRPr lang="en-US" altLang="zh-CN" sz="1100" dirty="0">
                        <a:solidFill>
                          <a:srgbClr val="2C3E50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关系型存储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缓存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Redis 7.x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缓存加速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zh-CN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向量</a:t>
                      </a:r>
                      <a:r>
                        <a:rPr lang="zh-CN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库</a:t>
                      </a:r>
                      <a:endParaRPr lang="zh-CN" alt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zh-CN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 Milvus</a:t>
                      </a:r>
                      <a:endParaRPr lang="en-US" altLang="zh-CN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zh-CN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RAG</a:t>
                      </a:r>
                      <a:r>
                        <a:rPr lang="zh-CN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自然语言</a:t>
                      </a:r>
                      <a:r>
                        <a:rPr lang="zh-CN" altLang="en-US" sz="1100" dirty="0"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匹配</a:t>
                      </a:r>
                      <a:endParaRPr lang="zh-CN" alt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百炼 Qwen3.5-Plus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自然语言转 SQL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部署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Docker Compose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容器化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仪表板与可视化图表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0" y="91440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KPI 指标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0" y="137160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1371600"/>
            <a:ext cx="54864" cy="41148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0" name="Text 7"/>
          <p:cNvSpPr/>
          <p:nvPr/>
        </p:nvSpPr>
        <p:spPr>
          <a:xfrm>
            <a:off x="5852160" y="1444752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总销售额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0" y="187452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0" y="1874520"/>
            <a:ext cx="54864" cy="411480"/>
          </a:xfrm>
          <a:prstGeom prst="rect">
            <a:avLst/>
          </a:prstGeom>
          <a:solidFill>
            <a:srgbClr val="2980B9"/>
          </a:solidFill>
        </p:spPr>
      </p:sp>
      <p:sp>
        <p:nvSpPr>
          <p:cNvPr id="13" name="Text 10"/>
          <p:cNvSpPr/>
          <p:nvPr/>
        </p:nvSpPr>
        <p:spPr>
          <a:xfrm>
            <a:off x="5852160" y="1947672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总订单数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0" y="237744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0" y="2377440"/>
            <a:ext cx="54864" cy="41148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6" name="Text 13"/>
          <p:cNvSpPr/>
          <p:nvPr/>
        </p:nvSpPr>
        <p:spPr>
          <a:xfrm>
            <a:off x="5852160" y="2450592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客户总数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0" y="288036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2880360"/>
            <a:ext cx="54864" cy="41148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19" name="Text 16"/>
          <p:cNvSpPr/>
          <p:nvPr/>
        </p:nvSpPr>
        <p:spPr>
          <a:xfrm>
            <a:off x="5852160" y="2953512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环比增长率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9280" y="347472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销售趋势: 折线图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0" y="379476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产品排行: 柱状图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0" y="411480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品类占比: 饼图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0" y="44348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数据明细: 表格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81305" y="4297680"/>
            <a:ext cx="8405495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&lt; 3 秒  |  ECharts 5  |  响应式布局  |  ADS 层预计算指标直接驱动</a:t>
            </a:r>
            <a:endParaRPr lang="en-US" sz="1200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35" y="841375"/>
            <a:ext cx="5426075" cy="3394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AI 智能问数 — 流程与标准库命中逻辑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Image 0" descr="/Users/huangqiang/projects/erp-bi-system/presentation/AI问数逻辑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22960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8" name="Shape 5"/>
          <p:cNvSpPr/>
          <p:nvPr/>
        </p:nvSpPr>
        <p:spPr>
          <a:xfrm>
            <a:off x="731520" y="4617720"/>
            <a:ext cx="3200400" cy="320040"/>
          </a:xfrm>
          <a:prstGeom prst="rect">
            <a:avLst/>
          </a:prstGeom>
          <a:solidFill>
            <a:srgbClr val="E8F8F0"/>
          </a:solidFill>
        </p:spPr>
      </p:sp>
      <p:sp>
        <p:nvSpPr>
          <p:cNvPr id="9" name="Text 6"/>
          <p:cNvSpPr/>
          <p:nvPr/>
        </p:nvSpPr>
        <p:spPr>
          <a:xfrm>
            <a:off x="548640" y="4636135"/>
            <a:ext cx="2665095" cy="3416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命中标准库：直接返回预定义 SQL，毫秒级响应，零 Token 消耗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4617720"/>
            <a:ext cx="4023360" cy="32004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11" name="Text 8"/>
          <p:cNvSpPr/>
          <p:nvPr/>
        </p:nvSpPr>
        <p:spPr>
          <a:xfrm>
            <a:off x="5655945" y="4636135"/>
            <a:ext cx="26650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未命中：百炼 Qwen 生成 SQL，结果沉淀回标准库，持续迭代</a:t>
            </a:r>
            <a:endParaRPr lang="en-US" sz="11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775" y="4572000"/>
            <a:ext cx="2249805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AI 智能问数 — 查询示例与 Token 优化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查询示例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57200" cy="27432"/>
          </a:xfrm>
          <a:prstGeom prst="rect">
            <a:avLst/>
          </a:prstGeom>
          <a:solidFill>
            <a:srgbClr val="3498DB"/>
          </a:solidFill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920240"/>
                <a:gridCol w="201168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查询类型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自然语言问题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SQL 特点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简单查询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"有多少个产品？"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SELECT COUNT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聚合查询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"各品类销售占比"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GROUP BY + SUM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排行查询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"销售额最高的产品"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ORDER BY + LIMIT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时间查询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"上个月销售数据"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DATE_SUB 过滤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标准库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"上月销量 TOP10"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预定义模板命中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840480"/>
            <a:ext cx="5029200" cy="777240"/>
          </a:xfrm>
          <a:prstGeom prst="rect">
            <a:avLst/>
          </a:prstGeom>
          <a:solidFill>
            <a:srgbClr val="1E2A35"/>
          </a:solidFill>
        </p:spPr>
      </p:sp>
      <p:sp>
        <p:nvSpPr>
          <p:cNvPr id="8" name="Text 7"/>
          <p:cNvSpPr/>
          <p:nvPr/>
        </p:nvSpPr>
        <p:spPr>
          <a:xfrm>
            <a:off x="548640" y="3858768"/>
            <a:ext cx="4846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AI 生成的 SQL（查询 ADS 层预计算表）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069080"/>
            <a:ext cx="4846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p.product_name, SUM(oi.quantity * oi.price) AS total_sales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279392"/>
            <a:ext cx="4846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ads_product_ranking ar JOIN ods_products p ON ar.product_id = p.id ...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60720" y="91440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优化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760720" y="1234440"/>
            <a:ext cx="457200" cy="2743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5" name="Shape 12"/>
          <p:cNvSpPr/>
          <p:nvPr/>
        </p:nvSpPr>
        <p:spPr>
          <a:xfrm>
            <a:off x="5760720" y="1417320"/>
            <a:ext cx="3017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1463040"/>
            <a:ext cx="2834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复杂度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52160" y="173736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 ERP 表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52160" y="1965960"/>
            <a:ext cx="2743200" cy="201168"/>
          </a:xfrm>
          <a:prstGeom prst="rect">
            <a:avLst/>
          </a:prstGeom>
          <a:solidFill>
            <a:srgbClr val="BDC3C7"/>
          </a:solidFill>
        </p:spPr>
      </p:sp>
      <p:sp>
        <p:nvSpPr>
          <p:cNvPr id="19" name="Text 16"/>
          <p:cNvSpPr/>
          <p:nvPr/>
        </p:nvSpPr>
        <p:spPr>
          <a:xfrm>
            <a:off x="5852160" y="196596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50+ 字段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52160" y="228600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数仓库表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52160" y="2514600"/>
            <a:ext cx="1371600" cy="201168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22" name="Text 19"/>
          <p:cNvSpPr/>
          <p:nvPr/>
        </p:nvSpPr>
        <p:spPr>
          <a:xfrm>
            <a:off x="5852160" y="2514600"/>
            <a:ext cx="1371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字段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60720" y="2926080"/>
            <a:ext cx="3017520" cy="548640"/>
          </a:xfrm>
          <a:prstGeom prst="rect">
            <a:avLst/>
          </a:prstGeom>
          <a:solidFill>
            <a:srgbClr val="E8F8F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2944368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节省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223760" y="292608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30%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5852160" y="361188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SQL 生成更准确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852160" y="384048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查询成本更低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760720" y="4206240"/>
            <a:ext cx="301752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52160" y="4251960"/>
            <a:ext cx="2834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4E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标准库命中：零额外 Token 消耗</a:t>
            </a:r>
            <a:endParaRPr lang="en-US" sz="11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0455" y="803910"/>
            <a:ext cx="5410200" cy="3942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AI 智能问数 — 查询示例与 Token 优化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查询示例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57200" cy="27432"/>
          </a:xfrm>
          <a:prstGeom prst="rect">
            <a:avLst/>
          </a:prstGeom>
          <a:solidFill>
            <a:srgbClr val="3498DB"/>
          </a:solidFill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920240"/>
                <a:gridCol w="201168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查询类型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自然语言问题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SQL 特点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简单查询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"有多少个产品？"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SELECT COUNT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聚合查询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"各品类销售占比"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GROUP BY + SUM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排行查询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"销售额最高的产品"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ORDER BY + LIMIT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时间查询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"上个月销售数据"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DATE_SUB 过滤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标准库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"上月销量 TOP10"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预定义模板命中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840480"/>
            <a:ext cx="5029200" cy="777240"/>
          </a:xfrm>
          <a:prstGeom prst="rect">
            <a:avLst/>
          </a:prstGeom>
          <a:solidFill>
            <a:srgbClr val="1E2A35"/>
          </a:solidFill>
        </p:spPr>
      </p:sp>
      <p:sp>
        <p:nvSpPr>
          <p:cNvPr id="8" name="Text 7"/>
          <p:cNvSpPr/>
          <p:nvPr/>
        </p:nvSpPr>
        <p:spPr>
          <a:xfrm>
            <a:off x="548640" y="3858768"/>
            <a:ext cx="4846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AI 生成的 SQL（查询 ADS 层预计算表）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069080"/>
            <a:ext cx="4846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p.product_name, SUM(oi.quantity * oi.price) AS total_sales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279392"/>
            <a:ext cx="4846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ads_product_ranking ar JOIN ods_products p ON ar.product_id = p.id ...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60720" y="91440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优化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760720" y="1234440"/>
            <a:ext cx="457200" cy="2743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5" name="Shape 12"/>
          <p:cNvSpPr/>
          <p:nvPr/>
        </p:nvSpPr>
        <p:spPr>
          <a:xfrm>
            <a:off x="5760720" y="1417320"/>
            <a:ext cx="3017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1463040"/>
            <a:ext cx="2834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复杂度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52160" y="173736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 ERP 表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52160" y="1965960"/>
            <a:ext cx="2743200" cy="201168"/>
          </a:xfrm>
          <a:prstGeom prst="rect">
            <a:avLst/>
          </a:prstGeom>
          <a:solidFill>
            <a:srgbClr val="BDC3C7"/>
          </a:solidFill>
        </p:spPr>
      </p:sp>
      <p:sp>
        <p:nvSpPr>
          <p:cNvPr id="19" name="Text 16"/>
          <p:cNvSpPr/>
          <p:nvPr/>
        </p:nvSpPr>
        <p:spPr>
          <a:xfrm>
            <a:off x="5852160" y="196596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50+ 字段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52160" y="228600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数仓库表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52160" y="2514600"/>
            <a:ext cx="1371600" cy="201168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22" name="Text 19"/>
          <p:cNvSpPr/>
          <p:nvPr/>
        </p:nvSpPr>
        <p:spPr>
          <a:xfrm>
            <a:off x="5852160" y="2514600"/>
            <a:ext cx="1371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字段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60720" y="2926080"/>
            <a:ext cx="3017520" cy="548640"/>
          </a:xfrm>
          <a:prstGeom prst="rect">
            <a:avLst/>
          </a:prstGeom>
          <a:solidFill>
            <a:srgbClr val="E8F8F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2944368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节省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223760" y="292608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80%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5852160" y="361188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SQL 生成更准确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852160" y="384048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查询成本更低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760720" y="4206240"/>
            <a:ext cx="301752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52160" y="4251960"/>
            <a:ext cx="2834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4E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标准库命中：零额外 Token 消耗</a:t>
            </a:r>
            <a:endParaRPr lang="en-US" sz="1100" dirty="0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45" y="788035"/>
            <a:ext cx="5639435" cy="43351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系统测试与 Docker 部署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57200" y="100584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18288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测试指标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目标值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实测值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结果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页面加载时间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3 秒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2 秒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达成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API 响应时间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500ms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200ms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达成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查询响应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5 秒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3 秒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达成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数据准确性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100%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100%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达成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系统可用性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99%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99.9%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达成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1089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测试覆盖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单元测试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103120" y="352044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85% 覆盖率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88620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集成测试</a:t>
            </a:r>
            <a:endParaRPr lang="en-US" sz="1200" dirty="0"/>
          </a:p>
        </p:txBody>
      </p:sp>
      <p:sp>
        <p:nvSpPr>
          <p:cNvPr id="6" name="Text 8"/>
          <p:cNvSpPr/>
          <p:nvPr/>
        </p:nvSpPr>
        <p:spPr>
          <a:xfrm>
            <a:off x="2103120" y="388620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核心流程 100% 覆盖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425196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压力测试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103120" y="4251960"/>
            <a:ext cx="2286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 100+ 并发用户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15" name="Text 12"/>
          <p:cNvSpPr/>
          <p:nvPr/>
        </p:nvSpPr>
        <p:spPr>
          <a:xfrm>
            <a:off x="5760720" y="109728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Docker 部署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943600" y="155448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docker-compose up -d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1901952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5 个服务一键启动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0" y="2249424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MySQL + Redis + FastAPI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0" y="2596896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Vue3 前端 + Metabase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0" y="2944368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数据 Volume 持久化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43600" y="329184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日志输出到 logs/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43600" y="3639312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.env 管理配置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创新点总结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1965960" cy="54864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8" name="Text 6"/>
          <p:cNvSpPr/>
          <p:nvPr/>
        </p:nvSpPr>
        <p:spPr>
          <a:xfrm>
            <a:off x="365760" y="118872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783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数仓分层架构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1828800"/>
            <a:ext cx="914400" cy="18288"/>
          </a:xfrm>
          <a:prstGeom prst="rect">
            <a:avLst/>
          </a:prstGeom>
          <a:solidFill>
            <a:srgbClr val="D5D8DC"/>
          </a:solidFill>
        </p:spPr>
      </p:sp>
      <p:sp>
        <p:nvSpPr>
          <p:cNvPr id="11" name="Text 9"/>
          <p:cNvSpPr/>
          <p:nvPr/>
        </p:nvSpPr>
        <p:spPr>
          <a:xfrm>
            <a:off x="502920" y="1842770"/>
            <a:ext cx="1734185" cy="2583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经典四层 ODS→DWD→DWS→ADS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数据解耦，易于维护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 张分析表覆盖全业务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精简，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速度提升</a:t>
            </a:r>
            <a:r>
              <a:rPr lang="en-US" altLang="zh-CN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80%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节省 30%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100584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005840"/>
            <a:ext cx="1965960" cy="54864"/>
          </a:xfrm>
          <a:prstGeom prst="rect">
            <a:avLst/>
          </a:prstGeom>
          <a:solidFill>
            <a:srgbClr val="2980B9"/>
          </a:solidFill>
        </p:spPr>
      </p:sp>
      <p:sp>
        <p:nvSpPr>
          <p:cNvPr id="14" name="Text 12"/>
          <p:cNvSpPr/>
          <p:nvPr/>
        </p:nvSpPr>
        <p:spPr>
          <a:xfrm>
            <a:off x="2514600" y="118872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980B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1508760"/>
            <a:ext cx="1783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980B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智能问数</a:t>
            </a:r>
            <a:r>
              <a:rPr lang="zh-CN" altLang="en-US" sz="1500" b="1" dirty="0">
                <a:solidFill>
                  <a:srgbClr val="2980B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报表</a:t>
            </a:r>
            <a:endParaRPr lang="zh-CN" altLang="en-US" sz="1500" b="1" dirty="0">
              <a:solidFill>
                <a:srgbClr val="2980B9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063240" y="1828800"/>
            <a:ext cx="914400" cy="18288"/>
          </a:xfrm>
          <a:prstGeom prst="rect">
            <a:avLst/>
          </a:prstGeom>
          <a:solidFill>
            <a:srgbClr val="D5D8DC"/>
          </a:solidFill>
        </p:spPr>
      </p:sp>
      <p:sp>
        <p:nvSpPr>
          <p:cNvPr id="17" name="Text 15"/>
          <p:cNvSpPr/>
          <p:nvPr/>
        </p:nvSpPr>
        <p:spPr>
          <a:xfrm>
            <a:off x="2651760" y="2011680"/>
            <a:ext cx="169164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自然语言转 SQL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标准库命中 + AI 双路径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节省 ~70%，成本更低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准确率 &gt; 80%，响应 &lt; 3 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005840"/>
            <a:ext cx="1965960" cy="54864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20" name="Text 18"/>
          <p:cNvSpPr/>
          <p:nvPr/>
        </p:nvSpPr>
        <p:spPr>
          <a:xfrm>
            <a:off x="4663440" y="118872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98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508760"/>
            <a:ext cx="1783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98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 BI 方案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212080" y="1828800"/>
            <a:ext cx="914400" cy="18288"/>
          </a:xfrm>
          <a:prstGeom prst="rect">
            <a:avLst/>
          </a:prstGeom>
          <a:solidFill>
            <a:srgbClr val="D5D8DC"/>
          </a:solidFill>
        </p:spPr>
      </p:sp>
      <p:sp>
        <p:nvSpPr>
          <p:cNvPr id="23" name="Text 21"/>
          <p:cNvSpPr/>
          <p:nvPr/>
        </p:nvSpPr>
        <p:spPr>
          <a:xfrm>
            <a:off x="4800600" y="2011680"/>
            <a:ext cx="169164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自研前端 + Metabase 互补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固定报表 + 自助分析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满足管理层与业务角色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开源与自研融合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280" y="100584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12280" y="1005840"/>
            <a:ext cx="1965960" cy="54864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26" name="Text 24"/>
          <p:cNvSpPr/>
          <p:nvPr/>
        </p:nvSpPr>
        <p:spPr>
          <a:xfrm>
            <a:off x="6812280" y="1188720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1508760"/>
            <a:ext cx="1783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Docker 部署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360920" y="1828800"/>
            <a:ext cx="914400" cy="18288"/>
          </a:xfrm>
          <a:prstGeom prst="rect">
            <a:avLst/>
          </a:prstGeom>
          <a:solidFill>
            <a:srgbClr val="D5D8DC"/>
          </a:solidFill>
        </p:spPr>
      </p:sp>
      <p:sp>
        <p:nvSpPr>
          <p:cNvPr id="29" name="Text 27"/>
          <p:cNvSpPr/>
          <p:nvPr/>
        </p:nvSpPr>
        <p:spPr>
          <a:xfrm>
            <a:off x="6949440" y="2011680"/>
            <a:ext cx="169164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个服务一键编排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降低运维成本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标准化的交付环境</a:t>
            </a:r>
            <a:endParaRPr lang="en-US" sz="1200" dirty="0">
              <a:solidFill>
                <a:srgbClr val="5D6D7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数据一键迁移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.env 配置管理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548640" y="109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总结与展望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94944"/>
            <a:ext cx="914400" cy="36576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已完成工作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457200" cy="2743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8" name="Text 6"/>
          <p:cNvSpPr/>
          <p:nvPr/>
        </p:nvSpPr>
        <p:spPr>
          <a:xfrm>
            <a:off x="731520" y="1417320"/>
            <a:ext cx="509397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数仓分层架构：ODS → DWD → DWS → 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ETL 数据流水线：全量 + 增量同步，自动化调度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BI 可视化：自研前端 + Metabase +</a:t>
            </a:r>
            <a:r>
              <a:rPr lang="zh-CN" alt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第三方</a:t>
            </a:r>
            <a:r>
              <a:rPr lang="en-US" altLang="zh-CN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</a:t>
            </a:r>
            <a:r>
              <a:rPr lang="zh-CN" alt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产品集成</a:t>
            </a:r>
            <a:r>
              <a:rPr lang="zh-CN" alt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</a:t>
            </a:r>
            <a:endParaRPr lang="zh-CN" altLang="en-US" sz="1200" dirty="0">
              <a:solidFill>
                <a:srgbClr val="2C3E5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605345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AI 智能问数：</a:t>
            </a:r>
            <a:r>
              <a:rPr lang="zh-CN" alt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自然语言向量相似度</a:t>
            </a:r>
            <a:r>
              <a:rPr lang="en-US" altLang="zh-CN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r>
              <a:rPr lang="en-US" altLang="zh-CN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SQL+</a:t>
            </a: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标准库命中 + AI 语义生成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509841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Token 节省 80%（Schema 精简 +MPP</a:t>
            </a:r>
            <a:r>
              <a:rPr lang="zh-CN" alt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</a:t>
            </a: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标准库</a:t>
            </a:r>
            <a:r>
              <a:rPr lang="zh-CN" alt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</a:t>
            </a: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重优化）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Docker 容器化：5 个服务一键</a:t>
            </a:r>
            <a:r>
              <a:rPr lang="zh-CN" alt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云端及本地</a:t>
            </a:r>
            <a:r>
              <a:rPr lang="en-US" sz="12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</a:t>
            </a:r>
            <a:endParaRPr lang="zh-CN" altLang="en-US" sz="1200" dirty="0">
              <a:solidFill>
                <a:srgbClr val="2C3E5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后续优化方向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457200" cy="27432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6" name="Text 14"/>
          <p:cNvSpPr/>
          <p:nvPr/>
        </p:nvSpPr>
        <p:spPr>
          <a:xfrm>
            <a:off x="741045" y="3840480"/>
            <a:ext cx="517779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◦  与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其他行业</a:t>
            </a: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ERP OA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等业务</a:t>
            </a: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系统集成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，目前已有教育行业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启动项目立项。</a:t>
            </a:r>
            <a:endParaRPr lang="zh-CN" altLang="en-US" sz="1200" dirty="0">
              <a:solidFill>
                <a:srgbClr val="5D6D7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◦  移动端 BI 应用开发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en-US" altLang="zh-CN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知识库与</a:t>
            </a:r>
            <a:r>
              <a:rPr lang="en-US" altLang="zh-CN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报表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融合。</a:t>
            </a:r>
            <a:endParaRPr lang="zh-CN" altLang="en-US" sz="1200" dirty="0">
              <a:solidFill>
                <a:srgbClr val="5D6D7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◦  实时数据处理（Kafka / Flink）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en-US" altLang="zh-CN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MPP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数仓数据库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迁移。</a:t>
            </a:r>
            <a:endParaRPr lang="zh-CN" altLang="en-US" sz="1200" dirty="0">
              <a:solidFill>
                <a:srgbClr val="5D6D7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605409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◦  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启用</a:t>
            </a: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多租户Saas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模式，</a:t>
            </a:r>
            <a:r>
              <a:rPr 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支持与细粒度权限控制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，云端提供服务，数据储存</a:t>
            </a:r>
            <a:r>
              <a:rPr lang="zh-CN" altLang="en-US" sz="1200" dirty="0">
                <a:solidFill>
                  <a:srgbClr val="5D6D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</a:t>
            </a:r>
            <a:endParaRPr lang="zh-CN" altLang="en-US" sz="1200" dirty="0">
              <a:solidFill>
                <a:srgbClr val="5D6D7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20640" y="109728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项目成一览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致  谢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931920" y="2286000"/>
            <a:ext cx="1280160" cy="4572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5" name="Text 3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BDC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感谢导师的悉心指导</a:t>
            </a:r>
            <a:endParaRPr lang="en-US" sz="2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BDC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感谢评委老师的聆听</a:t>
            </a:r>
            <a:endParaRPr lang="en-US" sz="2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BDC3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敬请批评指正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7" name="Text 5"/>
          <p:cNvSpPr/>
          <p:nvPr/>
        </p:nvSpPr>
        <p:spPr>
          <a:xfrm>
            <a:off x="3200400" y="416052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0" y="46177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5A5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欢迎提问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74920"/>
            <a:ext cx="9144000" cy="45720"/>
          </a:xfrm>
          <a:prstGeom prst="rect">
            <a:avLst/>
          </a:prstGeom>
          <a:solidFill>
            <a:srgbClr val="2980B9"/>
          </a:solid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13*130"/>
  <p:tag name="TABLE_ENDDRAG_RECT" val="36*79*513*13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3533</Words>
  <Application>WPS 演示</Application>
  <PresentationFormat>On-screen Show (16:9)</PresentationFormat>
  <Paragraphs>668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Consolas</vt:lpstr>
      <vt:lpstr>Consolas</vt:lpstr>
      <vt:lpstr>Consolas</vt:lpstr>
      <vt:lpstr>Calibri</vt:lpstr>
      <vt:lpstr>Helvetica Neue</vt:lpstr>
      <vt:lpstr>宋体</vt:lpstr>
      <vt:lpstr>Arial Unicode MS</vt:lpstr>
      <vt:lpstr>等线</vt:lpstr>
      <vt:lpstr>汉仪中等线KW</vt:lpstr>
      <vt:lpstr>汉仪书宋二KW</vt:lpstr>
      <vt:lpstr>苹方-简</vt:lpstr>
      <vt:lpstr>Apple Color Emoji</vt:lpstr>
      <vt:lpstr>儷宋 Pro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基于ERP系统的商业智能报表的设计与实现</dc:title>
  <dc:creator>Huang Qiang</dc:creator>
  <dc:subject>PptxGenJS Presentation</dc:subject>
  <cp:lastModifiedBy>黄强</cp:lastModifiedBy>
  <cp:revision>6</cp:revision>
  <dcterms:created xsi:type="dcterms:W3CDTF">2026-05-11T08:47:34Z</dcterms:created>
  <dcterms:modified xsi:type="dcterms:W3CDTF">2026-05-11T08:47:34Z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D3CC044BDEEE55530A7C016A72DDC2EB_42</vt:lpwstr>
  </property>
</Properties>
</file>