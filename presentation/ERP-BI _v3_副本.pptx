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ERP 系统的商业智能报表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2057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2880360"/>
            <a:ext cx="18288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2004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  名：_____________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  师：_____________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  校：_____________</a:t>
            </a:r>
            <a:endParaRPr lang="en-US" sz="15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  期：2026 年 3 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目  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33856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338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0972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499616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572768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5727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15361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1938528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011680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19751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数仓分层设计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2377440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2450592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450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41401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 流程实现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2816352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889504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8895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28529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技术栈介绍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1520" y="3255264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3328416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328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32918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核心功能展示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1520" y="3694176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3767328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37307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31520" y="4133088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4206240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06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88720" y="41696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系统测试与部署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1520" y="4572000"/>
            <a:ext cx="411480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4645152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645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88720" y="46085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303520" y="1097280"/>
            <a:ext cx="3383280" cy="36576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0" y="1188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486400" y="1600200"/>
            <a:ext cx="73152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0" y="1938528"/>
            <a:ext cx="73152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数仓四层架构：ODS → DWD → DWS → ADS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69280" y="2578608"/>
            <a:ext cx="73152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张分析表，覆盖全业务场景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669280" y="3218688"/>
            <a:ext cx="73152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智能问数：自然语言转 SQL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669280" y="3858768"/>
            <a:ext cx="73152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节省 ~70%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项目背景与目标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4864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002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系统积累了海量业务数据，但利用率低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BI 工具门槛高，业务人员难以自助分析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数据分散在多个子系统，缺乏统一视图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管理决策依赖人工报表，响应周期长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建设目标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54864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6002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构建低门槛、智能化的 BI 报表平台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让业务人员轻松获取数据洞察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让管理层快速做出数据驱动决策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AI + BI 的技术融合创新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128016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从经验决策转向数据决策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减少人工报表开发成本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4160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4114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敏捷响应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快速获取业务洞察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系统架构设计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tmp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475488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1005840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0" y="1005840"/>
            <a:ext cx="54864" cy="10972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0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用户层（Vue3 / Metabase）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138988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仪表板、报表页面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16002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问数交互界面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181051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Metabase 自助分析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2240280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0" y="2240280"/>
            <a:ext cx="54864" cy="10972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2313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应用层（FastAPI）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0" y="26243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网关与认证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0" y="28346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查询引擎 / AI 问数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304495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阿里云百炼 Qwen 模型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03520" y="3474720"/>
            <a:ext cx="32918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0" y="3474720"/>
            <a:ext cx="54864" cy="10972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35478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数据层（MySQL / Redis）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0" y="385876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MySQL 8.0 业务存储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0" y="4069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Redis 7.x 缓存加速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0" y="42793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ODS → DWD → DWS → ADS 数仓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三层解耦  |  AI + BI 融合  |  高可用架构  |  异步非阻塞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数仓分层设计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27432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功能描述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Operational Data Store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原始数据层，与业务库结构一致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Warehouse Detail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清洗标准化，去重、格式统一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 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 Warehouse Service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轻度聚合，按主题汇总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Application Data Store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报表指标层，预计算直接展示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880360"/>
            <a:ext cx="1005840" cy="347472"/>
          </a:xfrm>
          <a:prstGeom prst="rect">
            <a:avLst>
              <a:gd name="adj" fmla="val 10526"/>
            </a:avLst>
          </a:prstGeom>
          <a:solidFill>
            <a:srgbClr val="1B4F72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2880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28803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91640" y="2880360"/>
            <a:ext cx="1005840" cy="347472"/>
          </a:xfrm>
          <a:prstGeom prst="rect">
            <a:avLst>
              <a:gd name="adj" fmla="val 10526"/>
            </a:avLst>
          </a:prstGeom>
          <a:solidFill>
            <a:srgbClr val="1B4F72"/>
          </a:solidFill>
          <a:ln/>
        </p:spPr>
      </p:sp>
      <p:sp>
        <p:nvSpPr>
          <p:cNvPr id="11" name="Text 8"/>
          <p:cNvSpPr/>
          <p:nvPr/>
        </p:nvSpPr>
        <p:spPr>
          <a:xfrm>
            <a:off x="1691640" y="2880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97480" y="28803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26080" y="2880360"/>
            <a:ext cx="1005840" cy="347472"/>
          </a:xfrm>
          <a:prstGeom prst="rect">
            <a:avLst>
              <a:gd name="adj" fmla="val 10526"/>
            </a:avLst>
          </a:prstGeom>
          <a:solidFill>
            <a:srgbClr val="1B4F72"/>
          </a:solidFill>
          <a:ln/>
        </p:spPr>
      </p:sp>
      <p:sp>
        <p:nvSpPr>
          <p:cNvPr id="14" name="Text 11"/>
          <p:cNvSpPr/>
          <p:nvPr/>
        </p:nvSpPr>
        <p:spPr>
          <a:xfrm>
            <a:off x="2926080" y="2880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931920" y="28803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160520" y="2880360"/>
            <a:ext cx="1005840" cy="347472"/>
          </a:xfrm>
          <a:prstGeom prst="rect">
            <a:avLst>
              <a:gd name="adj" fmla="val 10526"/>
            </a:avLst>
          </a:prstGeom>
          <a:solidFill>
            <a:srgbClr val="1B4F72"/>
          </a:solidFill>
          <a:ln/>
        </p:spPr>
      </p:sp>
      <p:sp>
        <p:nvSpPr>
          <p:cNvPr id="17" name="Text 14"/>
          <p:cNvSpPr/>
          <p:nvPr/>
        </p:nvSpPr>
        <p:spPr>
          <a:xfrm>
            <a:off x="4160520" y="2880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66360" y="28803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394960" y="2880360"/>
            <a:ext cx="1005840" cy="347472"/>
          </a:xfrm>
          <a:prstGeom prst="rect">
            <a:avLst>
              <a:gd name="adj" fmla="val 10526"/>
            </a:avLst>
          </a:prstGeom>
          <a:solidFill>
            <a:srgbClr val="1B4F72"/>
          </a:solidFill>
          <a:ln/>
        </p:spPr>
      </p:sp>
      <p:sp>
        <p:nvSpPr>
          <p:cNvPr id="20" name="Text 17"/>
          <p:cNvSpPr/>
          <p:nvPr/>
        </p:nvSpPr>
        <p:spPr>
          <a:xfrm>
            <a:off x="5394960" y="2880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2880360"/>
            <a:ext cx="228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629400" y="2880360"/>
            <a:ext cx="1005840" cy="347472"/>
          </a:xfrm>
          <a:prstGeom prst="rect">
            <a:avLst>
              <a:gd name="adj" fmla="val 10526"/>
            </a:avLst>
          </a:prstGeom>
          <a:solidFill>
            <a:srgbClr val="1B4F72"/>
          </a:solidFill>
          <a:ln/>
        </p:spPr>
      </p:sp>
      <p:sp>
        <p:nvSpPr>
          <p:cNvPr id="23" name="Text 20"/>
          <p:cNvSpPr/>
          <p:nvPr/>
        </p:nvSpPr>
        <p:spPr>
          <a:xfrm>
            <a:off x="6629400" y="28803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132320" y="1005840"/>
            <a:ext cx="1645920" cy="22860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数仓统计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680960" y="1463040"/>
            <a:ext cx="54864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7" name="Text 24"/>
          <p:cNvSpPr/>
          <p:nvPr/>
        </p:nvSpPr>
        <p:spPr>
          <a:xfrm>
            <a:off x="7132320" y="16459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总表数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32320" y="18470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132320" y="21488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总层级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132320" y="23500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32320" y="2651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数据量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132320" y="28529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~5,000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7132320" y="3474720"/>
            <a:ext cx="164592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3232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节省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13232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~70%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457200" y="3474720"/>
            <a:ext cx="438912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8640" y="3493008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ODS: ods_products, ods_orders, ods_order_items, ods_customers, ods_suppliers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48640" y="37307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DWS: dws_sales_daily, dws_product_summary, dws_customer_stats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457200" y="4114800"/>
            <a:ext cx="5943600" cy="54864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4160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核心设计：数仓库表仅保留核心字段（约 15 个），原始 ERP 表 50+ 字段，Schema 精简使 AI Prompt Token 消耗降低约 70%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ETL 流程实现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737360" cy="777240"/>
          </a:xfrm>
          <a:prstGeom prst="rect">
            <a:avLst>
              <a:gd name="adj" fmla="val 4706"/>
            </a:avLst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241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ODS 抽取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/ 增量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097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51760" y="1005840"/>
            <a:ext cx="1737360" cy="777240"/>
          </a:xfrm>
          <a:prstGeom prst="rect">
            <a:avLst>
              <a:gd name="adj" fmla="val 470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0241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DWD 清洗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去重标准化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1097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1737360" cy="777240"/>
          </a:xfrm>
          <a:prstGeom prst="rect">
            <a:avLst>
              <a:gd name="adj" fmla="val 4706"/>
            </a:avLst>
          </a:prstGeom>
          <a:solidFill>
            <a:srgbClr val="3498D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241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DWS 聚合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日报/月报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10972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858000" y="1005840"/>
            <a:ext cx="1737360" cy="777240"/>
          </a:xfrm>
          <a:prstGeom prst="rect">
            <a:avLst>
              <a:gd name="adj" fmla="val 4706"/>
            </a:avLst>
          </a:prstGeom>
          <a:solidFill>
            <a:srgbClr val="1A527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0241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ADS 报表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5800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KPI/排行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处理流程详解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2377440"/>
            <a:ext cx="54864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2606040"/>
            <a:ext cx="731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ODS 抽取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27889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全量同步首次导入，后续基于 updated_at 时间戳增量更新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063240"/>
            <a:ext cx="73152" cy="731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DWD 清洗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2461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数据去重、空值处理、日期与金额格式统一标准化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73152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DWS 聚合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37033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按日/月/产品/客户等维度进行轻度聚合汇总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3977640"/>
            <a:ext cx="73152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ADS 报表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416052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预计算 KPI 指标、产品排行、品类占比等报表数据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同步效果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423160"/>
          <a:ext cx="3291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ODS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~5,000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10s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~4,800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DWS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~365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303520" y="3566160"/>
            <a:ext cx="3291840" cy="45720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0" y="3611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增量更新：基于 updated_at 时间戳，只同步变更数据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业务库 ~5,000 条数据 → 四层加工 → ADS 层 ~50 条报表指标  |  全量 &lt; 20s, 增量 &lt; 5s  |  事务保证一致性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技术栈介绍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9144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技术选型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Vue3 + Vite + Element Plus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响应式 UI 框架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ECharts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数据可视化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FastAPI (Python)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高性能异步 API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关系型数据库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Redis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缓存加速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 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Metabase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0.47+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开源自助 BI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模型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百炼 Qwen3.5-Plus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自然语言转 SQL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Docker Compose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20.x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32320" y="1005840"/>
            <a:ext cx="1645920" cy="30175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0" y="1051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技术分层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0" y="14630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0" y="166420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/ ECharts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8096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32320" y="20574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22585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/ Redis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8096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6517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2320" y="285292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/ 数仓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680960" y="3017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0" y="3246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32320" y="3447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百炼 Qwen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4297680"/>
            <a:ext cx="59436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3434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一键部署：docker-compose up -d 启动 5 个服务（MySQL → Redis → FastAPI → Frontend → Metabase）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75120" y="4297680"/>
            <a:ext cx="210312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容器化 | 标准化环境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核心功能 — 仪表板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Users/huangqiang/projects/erp-bi-system/presentation/screensho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3035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核心指标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0" y="128016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14630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1463040"/>
            <a:ext cx="54864" cy="5303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总销售额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26480" y="1737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聚合所有订单金额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210312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2103120"/>
            <a:ext cx="54864" cy="5303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总订单数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2377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统计订单总量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274320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2743200"/>
            <a:ext cx="54864" cy="5303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客户总数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3017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去重客户数量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338328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3383280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环比增长率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2648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与上期对比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 &lt; 3 秒  |  数据实时更新  |  支持按日期范围筛选  |  ADS 层预计算指标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核心功能 — 可视化图表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/Users/huangqiang/projects/erp-bi-system/presentation/screenshots/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53035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图表类型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943600" y="128016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Shape 6"/>
          <p:cNvSpPr/>
          <p:nvPr/>
        </p:nvSpPr>
        <p:spPr>
          <a:xfrm>
            <a:off x="5943600" y="14630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1463040"/>
            <a:ext cx="54864" cy="5303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销售趋势图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126480" y="17373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折线图 — 时间序列变化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210312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2103120"/>
            <a:ext cx="54864" cy="5303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产品排行图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2377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柱状图 — TOP N 排行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274320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2743200"/>
            <a:ext cx="54864" cy="5303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品类占比图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3017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饼图 — 构成比例分析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338328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3383280"/>
            <a:ext cx="54864" cy="5303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数据明细表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2648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 — 详细数据展示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ECharts 5.x  |  响应式布局  |  多种交互方式  |  ADS 层直接驱动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AI 智能问数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/Users/huangqiang/projects/erp-bi-system/presentation/screenshots/ai-qu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0"/>
            <a:ext cx="438912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处理流程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0" y="128016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1499616"/>
            <a:ext cx="320040" cy="320040"/>
          </a:xfrm>
          <a:prstGeom prst="oval">
            <a:avLst/>
          </a:prstGeom>
          <a:solidFill>
            <a:srgbClr val="1B4F72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499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0" y="1463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理解语义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0" y="1719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解析自然语言问题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0" y="2157984"/>
            <a:ext cx="320040" cy="320040"/>
          </a:xfrm>
          <a:prstGeom prst="oval">
            <a:avLst/>
          </a:prstGeom>
          <a:solidFill>
            <a:srgbClr val="2980B9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2157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1214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 SQL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48640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基于百炼 Qwen 模型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2816352"/>
            <a:ext cx="320040" cy="320040"/>
          </a:xfrm>
          <a:prstGeom prst="oval">
            <a:avLst/>
          </a:prstGeom>
          <a:solidFill>
            <a:srgbClr val="3498DB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0" y="27797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执行数据库查询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0" y="30358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 ADS/DWS 层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0" y="3474720"/>
            <a:ext cx="320040" cy="320040"/>
          </a:xfrm>
          <a:prstGeom prst="oval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0" y="34381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可视化展示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0" y="369417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表格/图表结果呈现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0" y="4114800"/>
            <a:ext cx="3657600" cy="822960"/>
          </a:xfrm>
          <a:prstGeom prst="rect">
            <a:avLst>
              <a:gd name="adj" fmla="val 4444"/>
            </a:avLst>
          </a:prstGeom>
          <a:solidFill>
            <a:srgbClr val="1E2A35"/>
          </a:solidFill>
          <a:ln/>
        </p:spPr>
      </p:sp>
      <p:sp>
        <p:nvSpPr>
          <p:cNvPr id="26" name="Text 23"/>
          <p:cNvSpPr/>
          <p:nvPr/>
        </p:nvSpPr>
        <p:spPr>
          <a:xfrm>
            <a:off x="5120640" y="41330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AI 生成的 SQL 查询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120640" y="435254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SUM(oi.quantity * oi.price) AS total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20640" y="4572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ods_orders o JOIN ods_order_items oi ...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" y="4480560"/>
            <a:ext cx="41148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 &lt; 3 秒  |  准确率 &gt; 80%  |  支持 JOIN / 聚合 / 时间表达式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AI 智能问数 — 典型查询与 Token 优化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03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 特点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"有多少个产品？"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SELECT COUNT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"各品类销售占比"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GROUP BY + SUM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排行查询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"销售额最高的产品"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 BY + LIMIT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"上个月销售数据"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DATE_SUB 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"华东区上月销量 TOP3"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多条件组合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005840"/>
            <a:ext cx="2743200" cy="2560320"/>
          </a:xfrm>
          <a:prstGeom prst="rect">
            <a:avLst/>
          </a:prstGeom>
          <a:solidFill>
            <a:srgbClr val="1B2B40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数仓库表节省 Token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49440" y="1463040"/>
            <a:ext cx="9144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554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复杂度对比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874520"/>
            <a:ext cx="2377440" cy="182880"/>
          </a:xfrm>
          <a:prstGeom prst="rect">
            <a:avLst/>
          </a:prstGeom>
          <a:solidFill>
            <a:srgbClr val="5D6D7E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8745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 ERP 表：50+ 字段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148840"/>
            <a:ext cx="1188720" cy="1828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148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数仓库表：15 字段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1792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Token 减少 ~70%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SQL 生成更准确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17920" y="3017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查询成本更低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35040" y="3749040"/>
            <a:ext cx="2743200" cy="411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直接查询数仓库表而非原始 ERP 表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Metabase BI 集成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57200" y="356616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2" name="Image 0" descr="/Users/huangqiang/projects/erp-bi-system/presentation/screenshots/me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0"/>
            <a:ext cx="3657600" cy="11887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572000" y="3657600"/>
            <a:ext cx="4206240" cy="1188720"/>
          </a:xfrm>
          <a:prstGeom prst="rect">
            <a:avLst/>
          </a:prstGeom>
          <a:solidFill>
            <a:srgbClr val="EBF5F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3730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BI 方案优势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754880" y="4023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自研前端 + Metabase 互补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固定报表 + 自助分析，满足不同角色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系统测试与部署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页面加载时间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 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 响应时间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500ms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200ms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查询响应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5 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3 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数据准确性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系统可用性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99.9%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达成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47472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6576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单元测试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10312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 覆盖率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069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集成测试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10312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核心流程 100% 覆盖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4805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压力测试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3120" y="44805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100+ 并发用户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005840"/>
            <a:ext cx="2743200" cy="32004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部署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949440" y="1463040"/>
            <a:ext cx="9144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645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docker-compose up -d 一键启动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1993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MySQL 8.0 + Redis 7.x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23408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FastAPI + Vue3 前后端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17920" y="2688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Metabase BI 集成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3035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数据 Volume 持久化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日志输出到 logs/ 目录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17920" y="3730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.env 管理敏感配置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创新点总结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1920240" cy="54864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数仓分层架构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经典四层设计 ODS → DWD → DWS → 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286000"/>
            <a:ext cx="1005840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数据解耦、易于维护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24 张分析表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清洗聚合后 Schema 精简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0058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1005840"/>
            <a:ext cx="192024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智能问数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自然语言转 SQL，Token 节省 ~70%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2286000"/>
            <a:ext cx="1005840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24688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数仓库表代替原始 ERP 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从 50+ 降至 15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 &gt; 80%，成本更低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005840"/>
            <a:ext cx="192024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BI 方案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自研前端 + Metabase 优势互补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212080" y="2286000"/>
            <a:ext cx="1005840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4688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固定报表 + 自助分析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满足不同角色需求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开源与自研融合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1005840"/>
            <a:ext cx="1920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005840"/>
            <a:ext cx="19202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9516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一键部署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4088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容器化，快速上线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0920" y="2286000"/>
            <a:ext cx="1005840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246888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个服务自动编排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降低运维成本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标准化部署环境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总结与展望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892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6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完整的数仓分层架构（4 层 24 张表）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56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ETL 数据流水线，支持自动化调度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037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BI 可视化报表（自研前端 + Metabase）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551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AI 智能问数，准确率 &gt; 80%，Token 节省 ~70%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898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Docker 容器化一键部署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后续优化方向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457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◦  与真实 ERP 系统深度集成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245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◦  移动端 BI 应用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171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◦  实时数据处理（Kafka / Flink）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80974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◦  多租户支持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1005840"/>
            <a:ext cx="3657600" cy="3749040"/>
          </a:xfrm>
          <a:prstGeom prst="rect">
            <a:avLst/>
          </a:prstGeom>
          <a:solidFill>
            <a:srgbClr val="1B2B4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项目成果一览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09360" y="1554480"/>
            <a:ext cx="109728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数仓表数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176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张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 流水线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21762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层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2697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准确率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953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80%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40880" y="2697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节省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295351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30352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73075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212080" y="4023360"/>
            <a:ext cx="329184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4069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感谢各位老师聆听，敬请批评指正！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  谢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931920" y="2286000"/>
            <a:ext cx="128016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56032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感谢导师的悉心指导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感谢评委老师的聆听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BDC3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731520"/>
          </a:xfrm>
          <a:prstGeom prst="rect">
            <a:avLst>
              <a:gd name="adj" fmla="val 5000"/>
            </a:avLst>
          </a:prstGeom>
          <a:solidFill>
            <a:srgbClr val="1B4F7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4617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45720"/>
          </a:xfrm>
          <a:prstGeom prst="rect">
            <a:avLst/>
          </a:prstGeom>
          <a:solidFill>
            <a:srgbClr val="2980B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基于ERP系统的商业智能报表的设计与实现</dc:title>
  <dc:subject>PptxGenJS Presentation</dc:subject>
  <dc:creator>Huang Qiang</dc:creator>
  <cp:lastModifiedBy>Huang Qiang</cp:lastModifiedBy>
  <cp:revision>1</cp:revision>
  <dcterms:created xsi:type="dcterms:W3CDTF">2026-05-11T06:21:42Z</dcterms:created>
  <dcterms:modified xsi:type="dcterms:W3CDTF">2026-05-11T06:21:42Z</dcterms:modified>
</cp:coreProperties>
</file>